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Garet" charset="1" panose="00000000000000000000"/>
      <p:regular r:id="rId16"/>
    </p:embeddedFont>
    <p:embeddedFont>
      <p:font typeface="Garet Bold" charset="1" panose="00000000000000000000"/>
      <p:regular r:id="rId17"/>
    </p:embeddedFont>
    <p:embeddedFont>
      <p:font typeface="Open Sans 1 Bold" charset="1" panose="020B0806030504020204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Relationship Id="rId8" Target="../media/image9.png" Type="http://schemas.openxmlformats.org/officeDocument/2006/relationships/image"/><Relationship Id="rId9" Target="../media/image10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13.png" Type="http://schemas.openxmlformats.org/officeDocument/2006/relationships/image"/><Relationship Id="rId7" Target="../media/image14.svg" Type="http://schemas.openxmlformats.org/officeDocument/2006/relationships/image"/><Relationship Id="rId8" Target="../media/image5.png" Type="http://schemas.openxmlformats.org/officeDocument/2006/relationships/image"/><Relationship Id="rId9" Target="../media/image6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Relationship Id="rId3" Target="../media/image16.svg" Type="http://schemas.openxmlformats.org/officeDocument/2006/relationships/image"/><Relationship Id="rId4" Target="../media/image17.png" Type="http://schemas.openxmlformats.org/officeDocument/2006/relationships/image"/><Relationship Id="rId5" Target="../media/image18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13.png" Type="http://schemas.openxmlformats.org/officeDocument/2006/relationships/image"/><Relationship Id="rId7" Target="../media/image14.svg" Type="http://schemas.openxmlformats.org/officeDocument/2006/relationships/image"/><Relationship Id="rId8" Target="../media/image5.png" Type="http://schemas.openxmlformats.org/officeDocument/2006/relationships/image"/><Relationship Id="rId9" Target="../media/image6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0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669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88797" y="203992"/>
            <a:ext cx="17910406" cy="9879016"/>
            <a:chOff x="0" y="0"/>
            <a:chExt cx="4717144" cy="260188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717144" cy="2601881"/>
            </a:xfrm>
            <a:custGeom>
              <a:avLst/>
              <a:gdLst/>
              <a:ahLst/>
              <a:cxnLst/>
              <a:rect r="r" b="b" t="t" l="l"/>
              <a:pathLst>
                <a:path h="2601881" w="4717144">
                  <a:moveTo>
                    <a:pt x="0" y="0"/>
                  </a:moveTo>
                  <a:lnTo>
                    <a:pt x="4717144" y="0"/>
                  </a:lnTo>
                  <a:lnTo>
                    <a:pt x="4717144" y="2601881"/>
                  </a:lnTo>
                  <a:lnTo>
                    <a:pt x="0" y="2601881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717144" cy="26399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028700" y="4826235"/>
            <a:ext cx="11076635" cy="20451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8024"/>
              </a:lnSpc>
            </a:pPr>
            <a:r>
              <a:rPr lang="en-US" sz="7164">
                <a:solidFill>
                  <a:srgbClr val="000066"/>
                </a:solidFill>
                <a:latin typeface="Garet"/>
                <a:ea typeface="Garet"/>
                <a:cs typeface="Garet"/>
                <a:sym typeface="Garet"/>
              </a:rPr>
              <a:t>Sistema de registro de ingresos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028700" y="1028700"/>
            <a:ext cx="2659265" cy="881440"/>
            <a:chOff x="0" y="0"/>
            <a:chExt cx="812800" cy="26941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269411"/>
            </a:xfrm>
            <a:custGeom>
              <a:avLst/>
              <a:gdLst/>
              <a:ahLst/>
              <a:cxnLst/>
              <a:rect r="r" b="b" t="t" l="l"/>
              <a:pathLst>
                <a:path h="269411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269411"/>
                  </a:lnTo>
                  <a:lnTo>
                    <a:pt x="0" y="269411"/>
                  </a:lnTo>
                  <a:close/>
                </a:path>
              </a:pathLst>
            </a:custGeom>
            <a:solidFill>
              <a:srgbClr val="000066"/>
            </a:solidFill>
            <a:ln cap="sq">
              <a:noFill/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812800" cy="30751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-2699999">
            <a:off x="15264668" y="-2600781"/>
            <a:ext cx="6841814" cy="6283654"/>
            <a:chOff x="0" y="0"/>
            <a:chExt cx="3397795" cy="31206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397795" cy="3120600"/>
            </a:xfrm>
            <a:custGeom>
              <a:avLst/>
              <a:gdLst/>
              <a:ahLst/>
              <a:cxnLst/>
              <a:rect r="r" b="b" t="t" l="l"/>
              <a:pathLst>
                <a:path h="3120600" w="3397795">
                  <a:moveTo>
                    <a:pt x="0" y="0"/>
                  </a:moveTo>
                  <a:lnTo>
                    <a:pt x="3397795" y="0"/>
                  </a:lnTo>
                  <a:lnTo>
                    <a:pt x="3397795" y="3120600"/>
                  </a:lnTo>
                  <a:lnTo>
                    <a:pt x="0" y="3120600"/>
                  </a:lnTo>
                  <a:close/>
                </a:path>
              </a:pathLst>
            </a:custGeom>
            <a:solidFill>
              <a:srgbClr val="6699FF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3397795" cy="3158700"/>
            </a:xfrm>
            <a:prstGeom prst="rect">
              <a:avLst/>
            </a:prstGeom>
          </p:spPr>
          <p:txBody>
            <a:bodyPr anchor="ctr" rtlCol="false" tIns="46654" lIns="46654" bIns="46654" rIns="46654"/>
            <a:lstStyle/>
            <a:p>
              <a:pPr algn="ctr">
                <a:lnSpc>
                  <a:spcPts val="180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-2699999">
            <a:off x="15359344" y="5155826"/>
            <a:ext cx="3801966" cy="3689633"/>
            <a:chOff x="0" y="0"/>
            <a:chExt cx="1888140" cy="1832352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888140" cy="1832352"/>
            </a:xfrm>
            <a:custGeom>
              <a:avLst/>
              <a:gdLst/>
              <a:ahLst/>
              <a:cxnLst/>
              <a:rect r="r" b="b" t="t" l="l"/>
              <a:pathLst>
                <a:path h="1832352" w="1888140">
                  <a:moveTo>
                    <a:pt x="0" y="0"/>
                  </a:moveTo>
                  <a:lnTo>
                    <a:pt x="1888140" y="0"/>
                  </a:lnTo>
                  <a:lnTo>
                    <a:pt x="1888140" y="1832352"/>
                  </a:lnTo>
                  <a:lnTo>
                    <a:pt x="0" y="1832352"/>
                  </a:lnTo>
                  <a:close/>
                </a:path>
              </a:pathLst>
            </a:custGeom>
            <a:solidFill>
              <a:srgbClr val="000066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1888140" cy="1870452"/>
            </a:xfrm>
            <a:prstGeom prst="rect">
              <a:avLst/>
            </a:prstGeom>
          </p:spPr>
          <p:txBody>
            <a:bodyPr anchor="ctr" rtlCol="false" tIns="46654" lIns="46654" bIns="46654" rIns="46654"/>
            <a:lstStyle/>
            <a:p>
              <a:pPr algn="ctr">
                <a:lnSpc>
                  <a:spcPts val="180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-2699999">
            <a:off x="11189420" y="88332"/>
            <a:ext cx="2579499" cy="2503285"/>
            <a:chOff x="0" y="0"/>
            <a:chExt cx="1281036" cy="124318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281036" cy="1243186"/>
            </a:xfrm>
            <a:custGeom>
              <a:avLst/>
              <a:gdLst/>
              <a:ahLst/>
              <a:cxnLst/>
              <a:rect r="r" b="b" t="t" l="l"/>
              <a:pathLst>
                <a:path h="1243186" w="1281036">
                  <a:moveTo>
                    <a:pt x="0" y="0"/>
                  </a:moveTo>
                  <a:lnTo>
                    <a:pt x="1281036" y="0"/>
                  </a:lnTo>
                  <a:lnTo>
                    <a:pt x="1281036" y="1243186"/>
                  </a:lnTo>
                  <a:lnTo>
                    <a:pt x="0" y="1243186"/>
                  </a:lnTo>
                  <a:close/>
                </a:path>
              </a:pathLst>
            </a:custGeom>
            <a:solidFill>
              <a:srgbClr val="000066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1281036" cy="1281286"/>
            </a:xfrm>
            <a:prstGeom prst="rect">
              <a:avLst/>
            </a:prstGeom>
          </p:spPr>
          <p:txBody>
            <a:bodyPr anchor="ctr" rtlCol="false" tIns="46654" lIns="46654" bIns="46654" rIns="46654"/>
            <a:lstStyle/>
            <a:p>
              <a:pPr algn="ctr">
                <a:lnSpc>
                  <a:spcPts val="180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-2699999">
            <a:off x="11321202" y="6614684"/>
            <a:ext cx="3491768" cy="3388599"/>
            <a:chOff x="0" y="0"/>
            <a:chExt cx="1734088" cy="1682853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734088" cy="1682853"/>
            </a:xfrm>
            <a:custGeom>
              <a:avLst/>
              <a:gdLst/>
              <a:ahLst/>
              <a:cxnLst/>
              <a:rect r="r" b="b" t="t" l="l"/>
              <a:pathLst>
                <a:path h="1682853" w="1734088">
                  <a:moveTo>
                    <a:pt x="0" y="0"/>
                  </a:moveTo>
                  <a:lnTo>
                    <a:pt x="1734088" y="0"/>
                  </a:lnTo>
                  <a:lnTo>
                    <a:pt x="1734088" y="1682853"/>
                  </a:lnTo>
                  <a:lnTo>
                    <a:pt x="0" y="1682853"/>
                  </a:lnTo>
                  <a:close/>
                </a:path>
              </a:pathLst>
            </a:custGeom>
            <a:solidFill>
              <a:srgbClr val="336699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1734088" cy="1720953"/>
            </a:xfrm>
            <a:prstGeom prst="rect">
              <a:avLst/>
            </a:prstGeom>
          </p:spPr>
          <p:txBody>
            <a:bodyPr anchor="ctr" rtlCol="false" tIns="46654" lIns="46654" bIns="46654" rIns="46654"/>
            <a:lstStyle/>
            <a:p>
              <a:pPr algn="ctr">
                <a:lnSpc>
                  <a:spcPts val="180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-2699999">
            <a:off x="13901875" y="9220529"/>
            <a:ext cx="3491768" cy="3388599"/>
            <a:chOff x="0" y="0"/>
            <a:chExt cx="1734088" cy="1682853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734088" cy="1682853"/>
            </a:xfrm>
            <a:custGeom>
              <a:avLst/>
              <a:gdLst/>
              <a:ahLst/>
              <a:cxnLst/>
              <a:rect r="r" b="b" t="t" l="l"/>
              <a:pathLst>
                <a:path h="1682853" w="1734088">
                  <a:moveTo>
                    <a:pt x="0" y="0"/>
                  </a:moveTo>
                  <a:lnTo>
                    <a:pt x="1734088" y="0"/>
                  </a:lnTo>
                  <a:lnTo>
                    <a:pt x="1734088" y="1682853"/>
                  </a:lnTo>
                  <a:lnTo>
                    <a:pt x="0" y="1682853"/>
                  </a:lnTo>
                  <a:close/>
                </a:path>
              </a:pathLst>
            </a:custGeom>
            <a:solidFill>
              <a:srgbClr val="6699FF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1734088" cy="1720953"/>
            </a:xfrm>
            <a:prstGeom prst="rect">
              <a:avLst/>
            </a:prstGeom>
          </p:spPr>
          <p:txBody>
            <a:bodyPr anchor="ctr" rtlCol="false" tIns="46654" lIns="46654" bIns="46654" rIns="46654"/>
            <a:lstStyle/>
            <a:p>
              <a:pPr algn="ctr">
                <a:lnSpc>
                  <a:spcPts val="180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1757279" y="1505970"/>
            <a:ext cx="5365403" cy="5365403"/>
            <a:chOff x="0" y="0"/>
            <a:chExt cx="812800" cy="8128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blipFill>
              <a:blip r:embed="rId2"/>
              <a:stretch>
                <a:fillRect l="-30196" t="0" r="-3137" b="0"/>
              </a:stretch>
            </a:blipFill>
          </p:spPr>
        </p:sp>
      </p:grpSp>
      <p:sp>
        <p:nvSpPr>
          <p:cNvPr name="TextBox 26" id="26"/>
          <p:cNvSpPr txBox="true"/>
          <p:nvPr/>
        </p:nvSpPr>
        <p:spPr>
          <a:xfrm rot="0">
            <a:off x="1028700" y="1182120"/>
            <a:ext cx="2659265" cy="5607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585"/>
              </a:lnSpc>
              <a:spcBef>
                <a:spcPct val="0"/>
              </a:spcBef>
            </a:pPr>
            <a:r>
              <a:rPr lang="en-US" b="true" sz="3500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CAPSTONE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028700" y="8126096"/>
            <a:ext cx="4835993" cy="7337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3"/>
              </a:lnSpc>
            </a:pPr>
            <a:r>
              <a:rPr lang="en-US" sz="2247" b="true">
                <a:solidFill>
                  <a:srgbClr val="000066"/>
                </a:solidFill>
                <a:latin typeface="Garet Bold"/>
                <a:ea typeface="Garet Bold"/>
                <a:cs typeface="Garet Bold"/>
                <a:sym typeface="Garet Bold"/>
              </a:rPr>
              <a:t>Diego Morales , Matias Soto , Cristian Fierro , Felipe Zuñiga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669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88797" y="203992"/>
            <a:ext cx="17910406" cy="9879016"/>
            <a:chOff x="0" y="0"/>
            <a:chExt cx="4717144" cy="260188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717144" cy="2601881"/>
            </a:xfrm>
            <a:custGeom>
              <a:avLst/>
              <a:gdLst/>
              <a:ahLst/>
              <a:cxnLst/>
              <a:rect r="r" b="b" t="t" l="l"/>
              <a:pathLst>
                <a:path h="2601881" w="4717144">
                  <a:moveTo>
                    <a:pt x="0" y="0"/>
                  </a:moveTo>
                  <a:lnTo>
                    <a:pt x="4717144" y="0"/>
                  </a:lnTo>
                  <a:lnTo>
                    <a:pt x="4717144" y="2601881"/>
                  </a:lnTo>
                  <a:lnTo>
                    <a:pt x="0" y="2601881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717144" cy="26399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724179" y="4778818"/>
            <a:ext cx="4848730" cy="4607667"/>
            <a:chOff x="0" y="0"/>
            <a:chExt cx="1277032" cy="121354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77032" cy="1213542"/>
            </a:xfrm>
            <a:custGeom>
              <a:avLst/>
              <a:gdLst/>
              <a:ahLst/>
              <a:cxnLst/>
              <a:rect r="r" b="b" t="t" l="l"/>
              <a:pathLst>
                <a:path h="1213542" w="1277032">
                  <a:moveTo>
                    <a:pt x="0" y="0"/>
                  </a:moveTo>
                  <a:lnTo>
                    <a:pt x="1277032" y="0"/>
                  </a:lnTo>
                  <a:lnTo>
                    <a:pt x="1277032" y="1213542"/>
                  </a:lnTo>
                  <a:lnTo>
                    <a:pt x="0" y="1213542"/>
                  </a:lnTo>
                  <a:close/>
                </a:path>
              </a:pathLst>
            </a:custGeom>
            <a:solidFill>
              <a:srgbClr val="000066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277032" cy="12516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6719635" y="4778818"/>
            <a:ext cx="4848730" cy="4607667"/>
            <a:chOff x="0" y="0"/>
            <a:chExt cx="1277032" cy="121354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277032" cy="1213542"/>
            </a:xfrm>
            <a:custGeom>
              <a:avLst/>
              <a:gdLst/>
              <a:ahLst/>
              <a:cxnLst/>
              <a:rect r="r" b="b" t="t" l="l"/>
              <a:pathLst>
                <a:path h="1213542" w="1277032">
                  <a:moveTo>
                    <a:pt x="0" y="0"/>
                  </a:moveTo>
                  <a:lnTo>
                    <a:pt x="1277032" y="0"/>
                  </a:lnTo>
                  <a:lnTo>
                    <a:pt x="1277032" y="1213542"/>
                  </a:lnTo>
                  <a:lnTo>
                    <a:pt x="0" y="1213542"/>
                  </a:lnTo>
                  <a:close/>
                </a:path>
              </a:pathLst>
            </a:custGeom>
            <a:solidFill>
              <a:srgbClr val="000066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277032" cy="12516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028700" y="1849997"/>
            <a:ext cx="16230600" cy="10261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520"/>
              </a:lnSpc>
              <a:spcBef>
                <a:spcPct val="0"/>
              </a:spcBef>
            </a:pPr>
            <a:r>
              <a:rPr lang="en-US" b="true" sz="8000" strike="noStrike" u="none">
                <a:solidFill>
                  <a:srgbClr val="000066"/>
                </a:solidFill>
                <a:latin typeface="Garet Bold"/>
                <a:ea typeface="Garet Bold"/>
                <a:cs typeface="Garet Bold"/>
                <a:sym typeface="Garet Bold"/>
              </a:rPr>
              <a:t>Introducción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110900" y="6031068"/>
            <a:ext cx="4075290" cy="31982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47"/>
              </a:lnSpc>
            </a:pPr>
            <a:r>
              <a:rPr lang="en-US" sz="1900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El proyecto consta de un sistema de registro de ingresos enfocado en el área administrativa de porterías y guardias, con el cual las empresas podrán llevar un registro constante de los ingresos a sus instalaciones. A su vez, podrán modificar sus diversos puestos de trabajo y empleados asignados, entre otras funciones.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245382" y="6012018"/>
            <a:ext cx="3797236" cy="32462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00"/>
              </a:lnSpc>
            </a:pPr>
            <a:r>
              <a:rPr lang="en-US" sz="1770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La problemática que buscamos resolver es la falta de control en diversas instalaciones basado en sistemas anticuados e inseguros de registros como lo son los registros físicos.</a:t>
            </a:r>
          </a:p>
          <a:p>
            <a:pPr algn="ctr">
              <a:lnSpc>
                <a:spcPts val="2000"/>
              </a:lnSpc>
            </a:pPr>
            <a:r>
              <a:rPr lang="en-US" sz="1770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En base a la inclusión de un moderno sistema de lectura QR, con el cual los guardias podrán registrar automáticamente los ingresos de empleados, y opcionalmente registrar ingresos externos.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110900" y="5309901"/>
            <a:ext cx="4075290" cy="426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90"/>
              </a:lnSpc>
            </a:pPr>
            <a:r>
              <a:rPr lang="en-US" sz="3000" b="true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Sistema de Registro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7106355" y="5095589"/>
            <a:ext cx="4075290" cy="855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90"/>
              </a:lnSpc>
            </a:pPr>
            <a:r>
              <a:rPr lang="en-US" sz="3000" b="true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Problema y Relevancia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11715090" y="4778818"/>
            <a:ext cx="4848730" cy="4607667"/>
            <a:chOff x="0" y="0"/>
            <a:chExt cx="1277032" cy="1213542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277032" cy="1213542"/>
            </a:xfrm>
            <a:custGeom>
              <a:avLst/>
              <a:gdLst/>
              <a:ahLst/>
              <a:cxnLst/>
              <a:rect r="r" b="b" t="t" l="l"/>
              <a:pathLst>
                <a:path h="1213542" w="1277032">
                  <a:moveTo>
                    <a:pt x="0" y="0"/>
                  </a:moveTo>
                  <a:lnTo>
                    <a:pt x="1277032" y="0"/>
                  </a:lnTo>
                  <a:lnTo>
                    <a:pt x="1277032" y="1213542"/>
                  </a:lnTo>
                  <a:lnTo>
                    <a:pt x="0" y="1213542"/>
                  </a:lnTo>
                  <a:close/>
                </a:path>
              </a:pathLst>
            </a:custGeom>
            <a:solidFill>
              <a:srgbClr val="000066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1277032" cy="12516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12101811" y="6031068"/>
            <a:ext cx="4075290" cy="29315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47"/>
              </a:lnSpc>
            </a:pPr>
            <a:r>
              <a:rPr lang="en-US" sz="1900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Los entregables del proyecto son un sistema administrativo web con capacidad de presentar dashboards, administrar usuarios y puestos de trabajo (porterías/guardias).</a:t>
            </a:r>
          </a:p>
          <a:p>
            <a:pPr algn="ctr">
              <a:lnSpc>
                <a:spcPts val="2147"/>
              </a:lnSpc>
            </a:pPr>
            <a:r>
              <a:rPr lang="en-US" sz="1900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Por otro lado, una app móvil con la cual los porteros podrán leer códigos QR para registrar ingresos o realizar el registro manualmente.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2101811" y="5309901"/>
            <a:ext cx="4075290" cy="426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90"/>
              </a:lnSpc>
            </a:pPr>
            <a:r>
              <a:rPr lang="en-US" sz="3000" b="true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Entregables</a:t>
            </a:r>
          </a:p>
        </p:txBody>
      </p:sp>
      <p:grpSp>
        <p:nvGrpSpPr>
          <p:cNvPr name="Group 21" id="21"/>
          <p:cNvGrpSpPr/>
          <p:nvPr/>
        </p:nvGrpSpPr>
        <p:grpSpPr>
          <a:xfrm rot="-2699999">
            <a:off x="-3089558" y="2284284"/>
            <a:ext cx="4906166" cy="4505918"/>
            <a:chOff x="0" y="0"/>
            <a:chExt cx="3397795" cy="31206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3397795" cy="3120600"/>
            </a:xfrm>
            <a:custGeom>
              <a:avLst/>
              <a:gdLst/>
              <a:ahLst/>
              <a:cxnLst/>
              <a:rect r="r" b="b" t="t" l="l"/>
              <a:pathLst>
                <a:path h="3120600" w="3397795">
                  <a:moveTo>
                    <a:pt x="0" y="0"/>
                  </a:moveTo>
                  <a:lnTo>
                    <a:pt x="3397795" y="0"/>
                  </a:lnTo>
                  <a:lnTo>
                    <a:pt x="3397795" y="3120600"/>
                  </a:lnTo>
                  <a:lnTo>
                    <a:pt x="0" y="3120600"/>
                  </a:lnTo>
                  <a:close/>
                </a:path>
              </a:pathLst>
            </a:custGeom>
            <a:solidFill>
              <a:srgbClr val="6699FF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3397795" cy="3158700"/>
            </a:xfrm>
            <a:prstGeom prst="rect">
              <a:avLst/>
            </a:prstGeom>
          </p:spPr>
          <p:txBody>
            <a:bodyPr anchor="ctr" rtlCol="false" tIns="46654" lIns="46654" bIns="46654" rIns="46654"/>
            <a:lstStyle/>
            <a:p>
              <a:pPr algn="ctr">
                <a:lnSpc>
                  <a:spcPts val="180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-2699999">
            <a:off x="16574543" y="-364103"/>
            <a:ext cx="3426914" cy="3147344"/>
            <a:chOff x="0" y="0"/>
            <a:chExt cx="2373330" cy="2179712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373330" cy="2179712"/>
            </a:xfrm>
            <a:custGeom>
              <a:avLst/>
              <a:gdLst/>
              <a:ahLst/>
              <a:cxnLst/>
              <a:rect r="r" b="b" t="t" l="l"/>
              <a:pathLst>
                <a:path h="2179712" w="2373330">
                  <a:moveTo>
                    <a:pt x="0" y="0"/>
                  </a:moveTo>
                  <a:lnTo>
                    <a:pt x="2373330" y="0"/>
                  </a:lnTo>
                  <a:lnTo>
                    <a:pt x="2373330" y="2179712"/>
                  </a:lnTo>
                  <a:lnTo>
                    <a:pt x="0" y="2179712"/>
                  </a:lnTo>
                  <a:close/>
                </a:path>
              </a:pathLst>
            </a:custGeom>
            <a:solidFill>
              <a:srgbClr val="6699FF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38100"/>
              <a:ext cx="2373330" cy="2217812"/>
            </a:xfrm>
            <a:prstGeom prst="rect">
              <a:avLst/>
            </a:prstGeom>
          </p:spPr>
          <p:txBody>
            <a:bodyPr anchor="ctr" rtlCol="false" tIns="46654" lIns="46654" bIns="46654" rIns="46654"/>
            <a:lstStyle/>
            <a:p>
              <a:pPr algn="ctr">
                <a:lnSpc>
                  <a:spcPts val="180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7" id="27"/>
          <p:cNvGrpSpPr/>
          <p:nvPr/>
        </p:nvGrpSpPr>
        <p:grpSpPr>
          <a:xfrm rot="-2699999">
            <a:off x="1392467" y="1419794"/>
            <a:ext cx="1849722" cy="1795069"/>
            <a:chOff x="0" y="0"/>
            <a:chExt cx="1281036" cy="1243186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281036" cy="1243186"/>
            </a:xfrm>
            <a:custGeom>
              <a:avLst/>
              <a:gdLst/>
              <a:ahLst/>
              <a:cxnLst/>
              <a:rect r="r" b="b" t="t" l="l"/>
              <a:pathLst>
                <a:path h="1243186" w="1281036">
                  <a:moveTo>
                    <a:pt x="0" y="0"/>
                  </a:moveTo>
                  <a:lnTo>
                    <a:pt x="1281036" y="0"/>
                  </a:lnTo>
                  <a:lnTo>
                    <a:pt x="1281036" y="1243186"/>
                  </a:lnTo>
                  <a:lnTo>
                    <a:pt x="0" y="1243186"/>
                  </a:lnTo>
                  <a:close/>
                </a:path>
              </a:pathLst>
            </a:custGeom>
            <a:solidFill>
              <a:srgbClr val="336699"/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38100"/>
              <a:ext cx="1281036" cy="1281286"/>
            </a:xfrm>
            <a:prstGeom prst="rect">
              <a:avLst/>
            </a:prstGeom>
          </p:spPr>
          <p:txBody>
            <a:bodyPr anchor="ctr" rtlCol="false" tIns="46654" lIns="46654" bIns="46654" rIns="46654"/>
            <a:lstStyle/>
            <a:p>
              <a:pPr algn="ctr">
                <a:lnSpc>
                  <a:spcPts val="180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30" id="30"/>
          <p:cNvGrpSpPr/>
          <p:nvPr/>
        </p:nvGrpSpPr>
        <p:grpSpPr>
          <a:xfrm rot="-2699999">
            <a:off x="15511370" y="1992562"/>
            <a:ext cx="1118730" cy="1085676"/>
            <a:chOff x="0" y="0"/>
            <a:chExt cx="774783" cy="751892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774783" cy="751892"/>
            </a:xfrm>
            <a:custGeom>
              <a:avLst/>
              <a:gdLst/>
              <a:ahLst/>
              <a:cxnLst/>
              <a:rect r="r" b="b" t="t" l="l"/>
              <a:pathLst>
                <a:path h="751892" w="774783">
                  <a:moveTo>
                    <a:pt x="0" y="0"/>
                  </a:moveTo>
                  <a:lnTo>
                    <a:pt x="774783" y="0"/>
                  </a:lnTo>
                  <a:lnTo>
                    <a:pt x="774783" y="751892"/>
                  </a:lnTo>
                  <a:lnTo>
                    <a:pt x="0" y="751892"/>
                  </a:lnTo>
                  <a:close/>
                </a:path>
              </a:pathLst>
            </a:custGeom>
            <a:solidFill>
              <a:srgbClr val="000066"/>
            </a:solid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38100"/>
              <a:ext cx="774783" cy="789992"/>
            </a:xfrm>
            <a:prstGeom prst="rect">
              <a:avLst/>
            </a:prstGeom>
          </p:spPr>
          <p:txBody>
            <a:bodyPr anchor="ctr" rtlCol="false" tIns="46654" lIns="46654" bIns="46654" rIns="46654"/>
            <a:lstStyle/>
            <a:p>
              <a:pPr algn="ctr">
                <a:lnSpc>
                  <a:spcPts val="1800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669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88797" y="203992"/>
            <a:ext cx="17910406" cy="9879016"/>
            <a:chOff x="0" y="0"/>
            <a:chExt cx="4717144" cy="260188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717144" cy="2601881"/>
            </a:xfrm>
            <a:custGeom>
              <a:avLst/>
              <a:gdLst/>
              <a:ahLst/>
              <a:cxnLst/>
              <a:rect r="r" b="b" t="t" l="l"/>
              <a:pathLst>
                <a:path h="2601881" w="4717144">
                  <a:moveTo>
                    <a:pt x="0" y="0"/>
                  </a:moveTo>
                  <a:lnTo>
                    <a:pt x="4717144" y="0"/>
                  </a:lnTo>
                  <a:lnTo>
                    <a:pt x="4717144" y="2601881"/>
                  </a:lnTo>
                  <a:lnTo>
                    <a:pt x="0" y="2601881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717144" cy="26399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028700" y="1885713"/>
            <a:ext cx="8466891" cy="19881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520"/>
              </a:lnSpc>
              <a:spcBef>
                <a:spcPct val="0"/>
              </a:spcBef>
            </a:pPr>
            <a:r>
              <a:rPr lang="en-US" b="true" sz="8000">
                <a:solidFill>
                  <a:srgbClr val="000066"/>
                </a:solidFill>
                <a:latin typeface="Garet Bold"/>
                <a:ea typeface="Garet Bold"/>
                <a:cs typeface="Garet Bold"/>
                <a:sym typeface="Garet Bold"/>
              </a:rPr>
              <a:t>Objetivos del Proyecto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5953999"/>
            <a:ext cx="5820689" cy="39808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10227" indent="-205114" lvl="1">
              <a:lnSpc>
                <a:spcPts val="2660"/>
              </a:lnSpc>
              <a:buAutoNum type="arabicPeriod" startAt="1"/>
            </a:pPr>
            <a:r>
              <a:rPr lang="en-US" sz="1900">
                <a:solidFill>
                  <a:srgbClr val="000066"/>
                </a:solidFill>
                <a:latin typeface="Garet"/>
                <a:ea typeface="Garet"/>
                <a:cs typeface="Garet"/>
                <a:sym typeface="Garet"/>
              </a:rPr>
              <a:t>Implementar una APP móvil con lector QR, fotografías y patentes.</a:t>
            </a:r>
          </a:p>
          <a:p>
            <a:pPr algn="l" marL="410227" indent="-205114" lvl="1">
              <a:lnSpc>
                <a:spcPts val="2660"/>
              </a:lnSpc>
              <a:buAutoNum type="arabicPeriod" startAt="1"/>
            </a:pPr>
            <a:r>
              <a:rPr lang="en-US" sz="1900">
                <a:solidFill>
                  <a:srgbClr val="000066"/>
                </a:solidFill>
                <a:latin typeface="Garet"/>
                <a:ea typeface="Garet"/>
                <a:cs typeface="Garet"/>
                <a:sym typeface="Garet"/>
              </a:rPr>
              <a:t>Implementar un sitio web administrativo para la gestión de usuarios, información de trabajadores y porterías, reportes automáticos, etc.</a:t>
            </a:r>
          </a:p>
          <a:p>
            <a:pPr algn="l" marL="410227" indent="-205114" lvl="1">
              <a:lnSpc>
                <a:spcPts val="2660"/>
              </a:lnSpc>
              <a:buAutoNum type="arabicPeriod" startAt="1"/>
            </a:pPr>
            <a:r>
              <a:rPr lang="en-US" sz="1900">
                <a:solidFill>
                  <a:srgbClr val="000066"/>
                </a:solidFill>
                <a:latin typeface="Garet"/>
                <a:ea typeface="Garet"/>
                <a:cs typeface="Garet"/>
                <a:sym typeface="Garet"/>
              </a:rPr>
              <a:t>Diseñar una base de datos centralizada que asegure trazabilidad y seguridad de los datos.</a:t>
            </a:r>
          </a:p>
          <a:p>
            <a:pPr algn="l" marL="410227" indent="-205114" lvl="1">
              <a:lnSpc>
                <a:spcPts val="2660"/>
              </a:lnSpc>
              <a:buAutoNum type="arabicPeriod" startAt="1"/>
            </a:pPr>
            <a:r>
              <a:rPr lang="en-US" sz="1900">
                <a:solidFill>
                  <a:srgbClr val="000066"/>
                </a:solidFill>
                <a:latin typeface="Garet"/>
                <a:ea typeface="Garet"/>
                <a:cs typeface="Garet"/>
                <a:sym typeface="Garet"/>
              </a:rPr>
              <a:t>Elaborar documentación técnica sobre los sistemas a implementar y del proyecto en general.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3892949"/>
            <a:ext cx="5820689" cy="13313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47"/>
              </a:lnSpc>
            </a:pPr>
            <a:r>
              <a:rPr lang="en-US" sz="1900">
                <a:solidFill>
                  <a:srgbClr val="000066"/>
                </a:solidFill>
                <a:latin typeface="Garet"/>
                <a:ea typeface="Garet"/>
                <a:cs typeface="Garet"/>
                <a:sym typeface="Garet"/>
              </a:rPr>
              <a:t>El principal objetivo es desarrollar un sistema web y móvil de registro de ingresos y salidas que permita optimizar la gestión de accesos, mejorar la trazabilidad de la información y reducir errores administrativos.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5280457"/>
            <a:ext cx="5820689" cy="426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390"/>
              </a:lnSpc>
              <a:spcBef>
                <a:spcPct val="0"/>
              </a:spcBef>
            </a:pPr>
            <a:r>
              <a:rPr lang="en-US" b="true" sz="3000">
                <a:solidFill>
                  <a:srgbClr val="000066"/>
                </a:solidFill>
                <a:latin typeface="Garet Bold"/>
                <a:ea typeface="Garet Bold"/>
                <a:cs typeface="Garet Bold"/>
                <a:sym typeface="Garet Bold"/>
              </a:rPr>
              <a:t>Objetivos Específicos:</a:t>
            </a:r>
          </a:p>
        </p:txBody>
      </p:sp>
      <p:grpSp>
        <p:nvGrpSpPr>
          <p:cNvPr name="Group 9" id="9"/>
          <p:cNvGrpSpPr/>
          <p:nvPr/>
        </p:nvGrpSpPr>
        <p:grpSpPr>
          <a:xfrm rot="-2699999">
            <a:off x="14652322" y="4614239"/>
            <a:ext cx="6600240" cy="6061788"/>
            <a:chOff x="0" y="0"/>
            <a:chExt cx="4571035" cy="4198127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571035" cy="4198127"/>
            </a:xfrm>
            <a:custGeom>
              <a:avLst/>
              <a:gdLst/>
              <a:ahLst/>
              <a:cxnLst/>
              <a:rect r="r" b="b" t="t" l="l"/>
              <a:pathLst>
                <a:path h="4198127" w="4571035">
                  <a:moveTo>
                    <a:pt x="0" y="0"/>
                  </a:moveTo>
                  <a:lnTo>
                    <a:pt x="4571035" y="0"/>
                  </a:lnTo>
                  <a:lnTo>
                    <a:pt x="4571035" y="4198127"/>
                  </a:lnTo>
                  <a:lnTo>
                    <a:pt x="0" y="4198127"/>
                  </a:lnTo>
                  <a:close/>
                </a:path>
              </a:pathLst>
            </a:custGeom>
            <a:solidFill>
              <a:srgbClr val="6699FF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4571035" cy="4236227"/>
            </a:xfrm>
            <a:prstGeom prst="rect">
              <a:avLst/>
            </a:prstGeom>
          </p:spPr>
          <p:txBody>
            <a:bodyPr anchor="ctr" rtlCol="false" tIns="46654" lIns="46654" bIns="46654" rIns="46654"/>
            <a:lstStyle/>
            <a:p>
              <a:pPr algn="ctr">
                <a:lnSpc>
                  <a:spcPts val="180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-2699999">
            <a:off x="14177116" y="140276"/>
            <a:ext cx="4091853" cy="3758037"/>
            <a:chOff x="0" y="0"/>
            <a:chExt cx="2833837" cy="260265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833837" cy="2602650"/>
            </a:xfrm>
            <a:custGeom>
              <a:avLst/>
              <a:gdLst/>
              <a:ahLst/>
              <a:cxnLst/>
              <a:rect r="r" b="b" t="t" l="l"/>
              <a:pathLst>
                <a:path h="2602650" w="2833837">
                  <a:moveTo>
                    <a:pt x="0" y="0"/>
                  </a:moveTo>
                  <a:lnTo>
                    <a:pt x="2833837" y="0"/>
                  </a:lnTo>
                  <a:lnTo>
                    <a:pt x="2833837" y="2602650"/>
                  </a:lnTo>
                  <a:lnTo>
                    <a:pt x="0" y="2602650"/>
                  </a:lnTo>
                  <a:close/>
                </a:path>
              </a:pathLst>
            </a:custGeom>
            <a:solidFill>
              <a:srgbClr val="000066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2833837" cy="2640750"/>
            </a:xfrm>
            <a:prstGeom prst="rect">
              <a:avLst/>
            </a:prstGeom>
          </p:spPr>
          <p:txBody>
            <a:bodyPr anchor="ctr" rtlCol="false" tIns="46654" lIns="46654" bIns="46654" rIns="46654"/>
            <a:lstStyle/>
            <a:p>
              <a:pPr algn="ctr">
                <a:lnSpc>
                  <a:spcPts val="180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-2699999">
            <a:off x="11011978" y="7665789"/>
            <a:ext cx="2646375" cy="2430482"/>
            <a:chOff x="0" y="0"/>
            <a:chExt cx="1832762" cy="1683244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832762" cy="1683244"/>
            </a:xfrm>
            <a:custGeom>
              <a:avLst/>
              <a:gdLst/>
              <a:ahLst/>
              <a:cxnLst/>
              <a:rect r="r" b="b" t="t" l="l"/>
              <a:pathLst>
                <a:path h="1683244" w="1832762">
                  <a:moveTo>
                    <a:pt x="0" y="0"/>
                  </a:moveTo>
                  <a:lnTo>
                    <a:pt x="1832762" y="0"/>
                  </a:lnTo>
                  <a:lnTo>
                    <a:pt x="1832762" y="1683244"/>
                  </a:lnTo>
                  <a:lnTo>
                    <a:pt x="0" y="1683244"/>
                  </a:lnTo>
                  <a:close/>
                </a:path>
              </a:pathLst>
            </a:custGeom>
            <a:solidFill>
              <a:srgbClr val="336699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1832762" cy="1721344"/>
            </a:xfrm>
            <a:prstGeom prst="rect">
              <a:avLst/>
            </a:prstGeom>
          </p:spPr>
          <p:txBody>
            <a:bodyPr anchor="ctr" rtlCol="false" tIns="46654" lIns="46654" bIns="46654" rIns="46654"/>
            <a:lstStyle/>
            <a:p>
              <a:pPr algn="ctr">
                <a:lnSpc>
                  <a:spcPts val="180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0617647" y="2298781"/>
            <a:ext cx="5365403" cy="5365403"/>
            <a:chOff x="0" y="0"/>
            <a:chExt cx="812800" cy="8128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50375" b="0"/>
              </a:stretch>
            </a:blipFill>
          </p:spPr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669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88797" y="203992"/>
            <a:ext cx="17910406" cy="9879016"/>
            <a:chOff x="0" y="0"/>
            <a:chExt cx="4717144" cy="260188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717144" cy="2601881"/>
            </a:xfrm>
            <a:custGeom>
              <a:avLst/>
              <a:gdLst/>
              <a:ahLst/>
              <a:cxnLst/>
              <a:rect r="r" b="b" t="t" l="l"/>
              <a:pathLst>
                <a:path h="2601881" w="4717144">
                  <a:moveTo>
                    <a:pt x="0" y="0"/>
                  </a:moveTo>
                  <a:lnTo>
                    <a:pt x="4717144" y="0"/>
                  </a:lnTo>
                  <a:lnTo>
                    <a:pt x="4717144" y="2601881"/>
                  </a:lnTo>
                  <a:lnTo>
                    <a:pt x="0" y="2601881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717144" cy="26399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418583" y="4040105"/>
            <a:ext cx="3565646" cy="4654522"/>
            <a:chOff x="0" y="0"/>
            <a:chExt cx="939100" cy="122588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939100" cy="1225882"/>
            </a:xfrm>
            <a:custGeom>
              <a:avLst/>
              <a:gdLst/>
              <a:ahLst/>
              <a:cxnLst/>
              <a:rect r="r" b="b" t="t" l="l"/>
              <a:pathLst>
                <a:path h="1225882" w="939100">
                  <a:moveTo>
                    <a:pt x="0" y="0"/>
                  </a:moveTo>
                  <a:lnTo>
                    <a:pt x="939100" y="0"/>
                  </a:lnTo>
                  <a:lnTo>
                    <a:pt x="939100" y="1225882"/>
                  </a:lnTo>
                  <a:lnTo>
                    <a:pt x="0" y="1225882"/>
                  </a:lnTo>
                  <a:close/>
                </a:path>
              </a:pathLst>
            </a:custGeom>
            <a:solidFill>
              <a:srgbClr val="000066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939100" cy="12639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-2699999">
            <a:off x="-1745592" y="330581"/>
            <a:ext cx="3868778" cy="3553160"/>
            <a:chOff x="0" y="0"/>
            <a:chExt cx="2679345" cy="246076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679345" cy="2460762"/>
            </a:xfrm>
            <a:custGeom>
              <a:avLst/>
              <a:gdLst/>
              <a:ahLst/>
              <a:cxnLst/>
              <a:rect r="r" b="b" t="t" l="l"/>
              <a:pathLst>
                <a:path h="2460762" w="2679345">
                  <a:moveTo>
                    <a:pt x="0" y="0"/>
                  </a:moveTo>
                  <a:lnTo>
                    <a:pt x="2679345" y="0"/>
                  </a:lnTo>
                  <a:lnTo>
                    <a:pt x="2679345" y="2460762"/>
                  </a:lnTo>
                  <a:lnTo>
                    <a:pt x="0" y="2460762"/>
                  </a:lnTo>
                  <a:close/>
                </a:path>
              </a:pathLst>
            </a:custGeom>
            <a:solidFill>
              <a:srgbClr val="6699F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2679345" cy="2498862"/>
            </a:xfrm>
            <a:prstGeom prst="rect">
              <a:avLst/>
            </a:prstGeom>
          </p:spPr>
          <p:txBody>
            <a:bodyPr anchor="ctr" rtlCol="false" tIns="46654" lIns="46654" bIns="46654" rIns="46654"/>
            <a:lstStyle/>
            <a:p>
              <a:pPr algn="ctr">
                <a:lnSpc>
                  <a:spcPts val="180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-2699999">
            <a:off x="17059040" y="1358558"/>
            <a:ext cx="3868778" cy="3553160"/>
            <a:chOff x="0" y="0"/>
            <a:chExt cx="2679345" cy="246076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679345" cy="2460762"/>
            </a:xfrm>
            <a:custGeom>
              <a:avLst/>
              <a:gdLst/>
              <a:ahLst/>
              <a:cxnLst/>
              <a:rect r="r" b="b" t="t" l="l"/>
              <a:pathLst>
                <a:path h="2460762" w="2679345">
                  <a:moveTo>
                    <a:pt x="0" y="0"/>
                  </a:moveTo>
                  <a:lnTo>
                    <a:pt x="2679345" y="0"/>
                  </a:lnTo>
                  <a:lnTo>
                    <a:pt x="2679345" y="2460762"/>
                  </a:lnTo>
                  <a:lnTo>
                    <a:pt x="0" y="2460762"/>
                  </a:lnTo>
                  <a:close/>
                </a:path>
              </a:pathLst>
            </a:custGeom>
            <a:solidFill>
              <a:srgbClr val="6699FF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2679345" cy="2498862"/>
            </a:xfrm>
            <a:prstGeom prst="rect">
              <a:avLst/>
            </a:prstGeom>
          </p:spPr>
          <p:txBody>
            <a:bodyPr anchor="ctr" rtlCol="false" tIns="46654" lIns="46654" bIns="46654" rIns="46654"/>
            <a:lstStyle/>
            <a:p>
              <a:pPr algn="ctr">
                <a:lnSpc>
                  <a:spcPts val="180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-2699999">
            <a:off x="15419116" y="-2079159"/>
            <a:ext cx="3680368" cy="3380122"/>
            <a:chOff x="0" y="0"/>
            <a:chExt cx="2548861" cy="2340923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548861" cy="2340923"/>
            </a:xfrm>
            <a:custGeom>
              <a:avLst/>
              <a:gdLst/>
              <a:ahLst/>
              <a:cxnLst/>
              <a:rect r="r" b="b" t="t" l="l"/>
              <a:pathLst>
                <a:path h="2340923" w="2548861">
                  <a:moveTo>
                    <a:pt x="0" y="0"/>
                  </a:moveTo>
                  <a:lnTo>
                    <a:pt x="2548861" y="0"/>
                  </a:lnTo>
                  <a:lnTo>
                    <a:pt x="2548861" y="2340923"/>
                  </a:lnTo>
                  <a:lnTo>
                    <a:pt x="0" y="2340923"/>
                  </a:lnTo>
                  <a:close/>
                </a:path>
              </a:pathLst>
            </a:custGeom>
            <a:solidFill>
              <a:srgbClr val="000066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2548861" cy="2379023"/>
            </a:xfrm>
            <a:prstGeom prst="rect">
              <a:avLst/>
            </a:prstGeom>
          </p:spPr>
          <p:txBody>
            <a:bodyPr anchor="ctr" rtlCol="false" tIns="46654" lIns="46654" bIns="46654" rIns="46654"/>
            <a:lstStyle/>
            <a:p>
              <a:pPr algn="ctr">
                <a:lnSpc>
                  <a:spcPts val="180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-2699999">
            <a:off x="2468217" y="-264109"/>
            <a:ext cx="2361227" cy="2168597"/>
            <a:chOff x="0" y="0"/>
            <a:chExt cx="1635282" cy="1501875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635282" cy="1501875"/>
            </a:xfrm>
            <a:custGeom>
              <a:avLst/>
              <a:gdLst/>
              <a:ahLst/>
              <a:cxnLst/>
              <a:rect r="r" b="b" t="t" l="l"/>
              <a:pathLst>
                <a:path h="1501875" w="1635282">
                  <a:moveTo>
                    <a:pt x="0" y="0"/>
                  </a:moveTo>
                  <a:lnTo>
                    <a:pt x="1635282" y="0"/>
                  </a:lnTo>
                  <a:lnTo>
                    <a:pt x="1635282" y="1501875"/>
                  </a:lnTo>
                  <a:lnTo>
                    <a:pt x="0" y="1501875"/>
                  </a:lnTo>
                  <a:close/>
                </a:path>
              </a:pathLst>
            </a:custGeom>
            <a:solidFill>
              <a:srgbClr val="336699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1635282" cy="1539975"/>
            </a:xfrm>
            <a:prstGeom prst="rect">
              <a:avLst/>
            </a:prstGeom>
          </p:spPr>
          <p:txBody>
            <a:bodyPr anchor="ctr" rtlCol="false" tIns="46654" lIns="46654" bIns="46654" rIns="46654"/>
            <a:lstStyle/>
            <a:p>
              <a:pPr algn="ctr">
                <a:lnSpc>
                  <a:spcPts val="1800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6655786" y="4706395"/>
            <a:ext cx="987831" cy="867495"/>
          </a:xfrm>
          <a:custGeom>
            <a:avLst/>
            <a:gdLst/>
            <a:ahLst/>
            <a:cxnLst/>
            <a:rect r="r" b="b" t="t" l="l"/>
            <a:pathLst>
              <a:path h="867495" w="987831">
                <a:moveTo>
                  <a:pt x="0" y="0"/>
                </a:moveTo>
                <a:lnTo>
                  <a:pt x="987831" y="0"/>
                </a:lnTo>
                <a:lnTo>
                  <a:pt x="987831" y="867495"/>
                </a:lnTo>
                <a:lnTo>
                  <a:pt x="0" y="86749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14877597" y="4533271"/>
            <a:ext cx="877242" cy="1040619"/>
          </a:xfrm>
          <a:custGeom>
            <a:avLst/>
            <a:gdLst/>
            <a:ahLst/>
            <a:cxnLst/>
            <a:rect r="r" b="b" t="t" l="l"/>
            <a:pathLst>
              <a:path h="1040619" w="877242">
                <a:moveTo>
                  <a:pt x="0" y="0"/>
                </a:moveTo>
                <a:lnTo>
                  <a:pt x="877242" y="0"/>
                </a:lnTo>
                <a:lnTo>
                  <a:pt x="877242" y="1040619"/>
                </a:lnTo>
                <a:lnTo>
                  <a:pt x="0" y="104061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2518728" y="4601107"/>
            <a:ext cx="906108" cy="906108"/>
          </a:xfrm>
          <a:custGeom>
            <a:avLst/>
            <a:gdLst/>
            <a:ahLst/>
            <a:cxnLst/>
            <a:rect r="r" b="b" t="t" l="l"/>
            <a:pathLst>
              <a:path h="906108" w="906108">
                <a:moveTo>
                  <a:pt x="0" y="0"/>
                </a:moveTo>
                <a:lnTo>
                  <a:pt x="906108" y="0"/>
                </a:lnTo>
                <a:lnTo>
                  <a:pt x="906108" y="906108"/>
                </a:lnTo>
                <a:lnTo>
                  <a:pt x="0" y="90610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1677536" y="6383770"/>
            <a:ext cx="2588492" cy="17132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431817" indent="-215908" lvl="1">
              <a:lnSpc>
                <a:spcPts val="2260"/>
              </a:lnSpc>
              <a:buFont typeface="Arial"/>
              <a:buChar char="•"/>
            </a:pPr>
            <a:r>
              <a:rPr lang="en-US" sz="2000">
                <a:solidFill>
                  <a:srgbClr val="000066"/>
                </a:solidFill>
                <a:latin typeface="Garet"/>
                <a:ea typeface="Garet"/>
                <a:cs typeface="Garet"/>
                <a:sym typeface="Garet"/>
              </a:rPr>
              <a:t>Automatización completa</a:t>
            </a:r>
          </a:p>
          <a:p>
            <a:pPr algn="ctr" marL="431817" indent="-215908" lvl="1">
              <a:lnSpc>
                <a:spcPts val="2260"/>
              </a:lnSpc>
              <a:buFont typeface="Arial"/>
              <a:buChar char="•"/>
            </a:pPr>
            <a:r>
              <a:rPr lang="en-US" sz="2000">
                <a:solidFill>
                  <a:srgbClr val="000066"/>
                </a:solidFill>
                <a:latin typeface="Garet"/>
                <a:ea typeface="Garet"/>
                <a:cs typeface="Garet"/>
                <a:sym typeface="Garet"/>
              </a:rPr>
              <a:t>Agilidad en Procesos</a:t>
            </a:r>
          </a:p>
          <a:p>
            <a:pPr algn="ctr" marL="431817" indent="-215908" lvl="1">
              <a:lnSpc>
                <a:spcPts val="2260"/>
              </a:lnSpc>
              <a:buFont typeface="Arial"/>
              <a:buChar char="•"/>
            </a:pPr>
            <a:r>
              <a:rPr lang="en-US" sz="2000">
                <a:solidFill>
                  <a:srgbClr val="000066"/>
                </a:solidFill>
                <a:latin typeface="Garet"/>
                <a:ea typeface="Garet"/>
                <a:cs typeface="Garet"/>
                <a:sym typeface="Garet"/>
              </a:rPr>
              <a:t>Integración Tecnológica 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5792348" y="6383770"/>
            <a:ext cx="2588492" cy="14274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431817" indent="-215908" lvl="1">
              <a:lnSpc>
                <a:spcPts val="2260"/>
              </a:lnSpc>
              <a:buFont typeface="Arial"/>
              <a:buChar char="•"/>
            </a:pPr>
            <a:r>
              <a:rPr lang="en-US" sz="2000">
                <a:solidFill>
                  <a:srgbClr val="000066"/>
                </a:solidFill>
                <a:latin typeface="Garet"/>
                <a:ea typeface="Garet"/>
                <a:cs typeface="Garet"/>
                <a:sym typeface="Garet"/>
              </a:rPr>
              <a:t>Trazabilidad Total</a:t>
            </a:r>
          </a:p>
          <a:p>
            <a:pPr algn="ctr" marL="431817" indent="-215908" lvl="1">
              <a:lnSpc>
                <a:spcPts val="2260"/>
              </a:lnSpc>
              <a:buFont typeface="Arial"/>
              <a:buChar char="•"/>
            </a:pPr>
            <a:r>
              <a:rPr lang="en-US" sz="2000">
                <a:solidFill>
                  <a:srgbClr val="000066"/>
                </a:solidFill>
                <a:latin typeface="Garet"/>
                <a:ea typeface="Garet"/>
                <a:cs typeface="Garet"/>
                <a:sym typeface="Garet"/>
              </a:rPr>
              <a:t>Evidencia Visual</a:t>
            </a:r>
          </a:p>
          <a:p>
            <a:pPr algn="ctr" marL="431817" indent="-215908" lvl="1">
              <a:lnSpc>
                <a:spcPts val="2260"/>
              </a:lnSpc>
              <a:buFont typeface="Arial"/>
              <a:buChar char="•"/>
            </a:pPr>
            <a:r>
              <a:rPr lang="en-US" sz="2000">
                <a:solidFill>
                  <a:srgbClr val="000066"/>
                </a:solidFill>
                <a:latin typeface="Garet"/>
                <a:ea typeface="Garet"/>
                <a:cs typeface="Garet"/>
                <a:sym typeface="Garet"/>
              </a:rPr>
              <a:t>Control de Turnos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9907160" y="6376864"/>
            <a:ext cx="2588492" cy="17132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431817" indent="-215908" lvl="1">
              <a:lnSpc>
                <a:spcPts val="2260"/>
              </a:lnSpc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Reporte Automáticos</a:t>
            </a:r>
          </a:p>
          <a:p>
            <a:pPr algn="ctr" marL="431817" indent="-215908" lvl="1">
              <a:lnSpc>
                <a:spcPts val="2260"/>
              </a:lnSpc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Consultas en tiempo real</a:t>
            </a:r>
          </a:p>
          <a:p>
            <a:pPr algn="ctr" marL="431817" indent="-215908" lvl="1">
              <a:lnSpc>
                <a:spcPts val="2260"/>
              </a:lnSpc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Gestión Centralizada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3415351" y="6240895"/>
            <a:ext cx="3801735" cy="17132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431817" indent="-215908" lvl="1">
              <a:lnSpc>
                <a:spcPts val="2260"/>
              </a:lnSpc>
              <a:buFont typeface="Arial"/>
              <a:buChar char="•"/>
            </a:pPr>
            <a:r>
              <a:rPr lang="en-US" sz="2000">
                <a:solidFill>
                  <a:srgbClr val="000066"/>
                </a:solidFill>
                <a:latin typeface="Garet"/>
                <a:ea typeface="Garet"/>
                <a:cs typeface="Garet"/>
                <a:sym typeface="Garet"/>
              </a:rPr>
              <a:t>Minimización de fallos humanos</a:t>
            </a:r>
          </a:p>
          <a:p>
            <a:pPr algn="ctr" marL="431817" indent="-215908" lvl="1">
              <a:lnSpc>
                <a:spcPts val="2260"/>
              </a:lnSpc>
              <a:buFont typeface="Arial"/>
              <a:buChar char="•"/>
            </a:pPr>
            <a:r>
              <a:rPr lang="en-US" sz="2000">
                <a:solidFill>
                  <a:srgbClr val="000066"/>
                </a:solidFill>
                <a:latin typeface="Garet"/>
                <a:ea typeface="Garet"/>
                <a:cs typeface="Garet"/>
                <a:sym typeface="Garet"/>
              </a:rPr>
              <a:t>Integridad de Datos</a:t>
            </a:r>
          </a:p>
          <a:p>
            <a:pPr algn="ctr" marL="431817" indent="-215908" lvl="1">
              <a:lnSpc>
                <a:spcPts val="2260"/>
              </a:lnSpc>
              <a:buFont typeface="Arial"/>
              <a:buChar char="•"/>
            </a:pPr>
            <a:r>
              <a:rPr lang="en-US" sz="2000">
                <a:solidFill>
                  <a:srgbClr val="000066"/>
                </a:solidFill>
                <a:latin typeface="Garet"/>
                <a:ea typeface="Garet"/>
                <a:cs typeface="Garet"/>
                <a:sym typeface="Garet"/>
              </a:rPr>
              <a:t>Aplicable a multiples sectores</a:t>
            </a:r>
          </a:p>
          <a:p>
            <a:pPr algn="ctr" marL="431817" indent="-215908" lvl="1">
              <a:lnSpc>
                <a:spcPts val="2260"/>
              </a:lnSpc>
              <a:buFont typeface="Arial"/>
              <a:buChar char="•"/>
            </a:pPr>
            <a:r>
              <a:rPr lang="en-US" sz="2000">
                <a:solidFill>
                  <a:srgbClr val="000066"/>
                </a:solidFill>
                <a:latin typeface="Garet"/>
                <a:ea typeface="Garet"/>
                <a:cs typeface="Garet"/>
                <a:sym typeface="Garet"/>
              </a:rPr>
              <a:t>Transformación digital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028700" y="1849997"/>
            <a:ext cx="16230600" cy="10261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520"/>
              </a:lnSpc>
              <a:spcBef>
                <a:spcPct val="0"/>
              </a:spcBef>
            </a:pPr>
            <a:r>
              <a:rPr lang="en-US" b="true" sz="8000">
                <a:solidFill>
                  <a:srgbClr val="000066"/>
                </a:solidFill>
                <a:latin typeface="Garet Bold"/>
                <a:ea typeface="Garet Bold"/>
                <a:cs typeface="Garet Bold"/>
                <a:sym typeface="Garet Bold"/>
              </a:rPr>
              <a:t>Aportes de Valor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046244" y="5650090"/>
            <a:ext cx="3851077" cy="5134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48"/>
              </a:lnSpc>
            </a:pPr>
            <a:r>
              <a:rPr lang="en-US" sz="3034" b="true">
                <a:solidFill>
                  <a:srgbClr val="174264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Eficiencia Operativa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5196774" y="5650090"/>
            <a:ext cx="3779639" cy="5134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48"/>
              </a:lnSpc>
            </a:pPr>
            <a:r>
              <a:rPr lang="en-US" sz="3034" b="true">
                <a:solidFill>
                  <a:srgbClr val="174264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Control y Seguridad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9468377" y="5659615"/>
            <a:ext cx="3466058" cy="4067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04"/>
              </a:lnSpc>
            </a:pPr>
            <a:r>
              <a:rPr lang="en-US" sz="2360" b="true">
                <a:solidFill>
                  <a:srgbClr val="FFFFFF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Gestión Administrativa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4777014" y="5573703"/>
            <a:ext cx="1078409" cy="5135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44"/>
              </a:lnSpc>
            </a:pPr>
            <a:r>
              <a:rPr lang="en-US" sz="3032" b="true">
                <a:solidFill>
                  <a:srgbClr val="174264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Otros</a:t>
            </a:r>
          </a:p>
        </p:txBody>
      </p:sp>
      <p:sp>
        <p:nvSpPr>
          <p:cNvPr name="Freeform 32" id="32"/>
          <p:cNvSpPr/>
          <p:nvPr/>
        </p:nvSpPr>
        <p:spPr>
          <a:xfrm flipH="false" flipV="false" rot="0">
            <a:off x="10648340" y="4524720"/>
            <a:ext cx="1106133" cy="1106133"/>
          </a:xfrm>
          <a:custGeom>
            <a:avLst/>
            <a:gdLst/>
            <a:ahLst/>
            <a:cxnLst/>
            <a:rect r="r" b="b" t="t" l="l"/>
            <a:pathLst>
              <a:path h="1106133" w="1106133">
                <a:moveTo>
                  <a:pt x="0" y="0"/>
                </a:moveTo>
                <a:lnTo>
                  <a:pt x="1106132" y="0"/>
                </a:lnTo>
                <a:lnTo>
                  <a:pt x="1106132" y="1106133"/>
                </a:lnTo>
                <a:lnTo>
                  <a:pt x="0" y="110613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669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88797" y="203992"/>
            <a:ext cx="17910406" cy="9879016"/>
            <a:chOff x="0" y="0"/>
            <a:chExt cx="4717144" cy="260188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717144" cy="2601881"/>
            </a:xfrm>
            <a:custGeom>
              <a:avLst/>
              <a:gdLst/>
              <a:ahLst/>
              <a:cxnLst/>
              <a:rect r="r" b="b" t="t" l="l"/>
              <a:pathLst>
                <a:path h="2601881" w="4717144">
                  <a:moveTo>
                    <a:pt x="0" y="0"/>
                  </a:moveTo>
                  <a:lnTo>
                    <a:pt x="4717144" y="0"/>
                  </a:lnTo>
                  <a:lnTo>
                    <a:pt x="4717144" y="2601881"/>
                  </a:lnTo>
                  <a:lnTo>
                    <a:pt x="0" y="2601881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717144" cy="26399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028700" y="1885713"/>
            <a:ext cx="8466891" cy="19881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520"/>
              </a:lnSpc>
              <a:spcBef>
                <a:spcPct val="0"/>
              </a:spcBef>
            </a:pPr>
            <a:r>
              <a:rPr lang="en-US" b="true" sz="8000">
                <a:solidFill>
                  <a:srgbClr val="000066"/>
                </a:solidFill>
                <a:latin typeface="Garet Bold"/>
                <a:ea typeface="Garet Bold"/>
                <a:cs typeface="Garet Bold"/>
                <a:sym typeface="Garet Bold"/>
              </a:rPr>
              <a:t>Metodología de Desarrollo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5953999"/>
            <a:ext cx="5820689" cy="23139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10227" indent="-205114" lvl="1">
              <a:lnSpc>
                <a:spcPts val="2660"/>
              </a:lnSpc>
              <a:buAutoNum type="arabicPeriod" startAt="1"/>
            </a:pPr>
            <a:r>
              <a:rPr lang="en-US" sz="1900">
                <a:solidFill>
                  <a:srgbClr val="000066"/>
                </a:solidFill>
                <a:latin typeface="Garet"/>
                <a:ea typeface="Garet"/>
                <a:cs typeface="Garet"/>
                <a:sym typeface="Garet"/>
              </a:rPr>
              <a:t>Levantamiento de Requerimientos.</a:t>
            </a:r>
          </a:p>
          <a:p>
            <a:pPr algn="l" marL="410227" indent="-205114" lvl="1">
              <a:lnSpc>
                <a:spcPts val="2660"/>
              </a:lnSpc>
              <a:buAutoNum type="arabicPeriod" startAt="1"/>
            </a:pPr>
            <a:r>
              <a:rPr lang="en-US" sz="1900">
                <a:solidFill>
                  <a:srgbClr val="000066"/>
                </a:solidFill>
                <a:latin typeface="Garet"/>
                <a:ea typeface="Garet"/>
                <a:cs typeface="Garet"/>
                <a:sym typeface="Garet"/>
              </a:rPr>
              <a:t>Diseño (Wireframes y Diagramas).</a:t>
            </a:r>
          </a:p>
          <a:p>
            <a:pPr algn="l" marL="410227" indent="-205114" lvl="1">
              <a:lnSpc>
                <a:spcPts val="2660"/>
              </a:lnSpc>
              <a:buAutoNum type="arabicPeriod" startAt="1"/>
            </a:pPr>
            <a:r>
              <a:rPr lang="en-US" sz="1900">
                <a:solidFill>
                  <a:srgbClr val="000066"/>
                </a:solidFill>
                <a:latin typeface="Garet"/>
                <a:ea typeface="Garet"/>
                <a:cs typeface="Garet"/>
                <a:sym typeface="Garet"/>
              </a:rPr>
              <a:t>Desarrollo (Flutter/React Native y React/Angular con Node.js).</a:t>
            </a:r>
          </a:p>
          <a:p>
            <a:pPr algn="l" marL="410227" indent="-205114" lvl="1">
              <a:lnSpc>
                <a:spcPts val="2660"/>
              </a:lnSpc>
              <a:buAutoNum type="arabicPeriod" startAt="1"/>
            </a:pPr>
            <a:r>
              <a:rPr lang="en-US" sz="1900">
                <a:solidFill>
                  <a:srgbClr val="000066"/>
                </a:solidFill>
                <a:latin typeface="Garet"/>
                <a:ea typeface="Garet"/>
                <a:cs typeface="Garet"/>
                <a:sym typeface="Garet"/>
              </a:rPr>
              <a:t>Pruebas y validación.</a:t>
            </a:r>
          </a:p>
          <a:p>
            <a:pPr algn="l" marL="410227" indent="-205114" lvl="1">
              <a:lnSpc>
                <a:spcPts val="2660"/>
              </a:lnSpc>
              <a:buAutoNum type="arabicPeriod" startAt="1"/>
            </a:pPr>
            <a:r>
              <a:rPr lang="en-US" sz="1900">
                <a:solidFill>
                  <a:srgbClr val="000066"/>
                </a:solidFill>
                <a:latin typeface="Garet"/>
                <a:ea typeface="Garet"/>
                <a:cs typeface="Garet"/>
                <a:sym typeface="Garet"/>
              </a:rPr>
              <a:t>Documentación.</a:t>
            </a:r>
          </a:p>
          <a:p>
            <a:pPr algn="l" marL="410227" indent="-205114" lvl="1">
              <a:lnSpc>
                <a:spcPts val="2660"/>
              </a:lnSpc>
              <a:buAutoNum type="arabicPeriod" startAt="1"/>
            </a:pPr>
            <a:r>
              <a:rPr lang="en-US" sz="1900">
                <a:solidFill>
                  <a:srgbClr val="000066"/>
                </a:solidFill>
                <a:latin typeface="Garet"/>
                <a:ea typeface="Garet"/>
                <a:cs typeface="Garet"/>
                <a:sym typeface="Garet"/>
              </a:rPr>
              <a:t>Entrega y Presentación.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3892949"/>
            <a:ext cx="5820689" cy="7979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47"/>
              </a:lnSpc>
            </a:pPr>
            <a:r>
              <a:rPr lang="en-US" sz="1900">
                <a:solidFill>
                  <a:srgbClr val="000066"/>
                </a:solidFill>
                <a:latin typeface="Garet"/>
                <a:ea typeface="Garet"/>
                <a:cs typeface="Garet"/>
                <a:sym typeface="Garet"/>
              </a:rPr>
              <a:t>Para el correcto desarrollo de este proyecto utilizaremos la metodología SCRUM dividiendo el trabajo en diversas etapas de desarrollo.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5280457"/>
            <a:ext cx="5820689" cy="426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390"/>
              </a:lnSpc>
              <a:spcBef>
                <a:spcPct val="0"/>
              </a:spcBef>
            </a:pPr>
            <a:r>
              <a:rPr lang="en-US" b="true" sz="3000">
                <a:solidFill>
                  <a:srgbClr val="000066"/>
                </a:solidFill>
                <a:latin typeface="Garet Bold"/>
                <a:ea typeface="Garet Bold"/>
                <a:cs typeface="Garet Bold"/>
                <a:sym typeface="Garet Bold"/>
              </a:rPr>
              <a:t>Etapas de desarrollo:</a:t>
            </a:r>
          </a:p>
        </p:txBody>
      </p:sp>
      <p:grpSp>
        <p:nvGrpSpPr>
          <p:cNvPr name="Group 9" id="9"/>
          <p:cNvGrpSpPr/>
          <p:nvPr/>
        </p:nvGrpSpPr>
        <p:grpSpPr>
          <a:xfrm rot="-2699999">
            <a:off x="14652322" y="4614239"/>
            <a:ext cx="6600240" cy="6061788"/>
            <a:chOff x="0" y="0"/>
            <a:chExt cx="4571035" cy="4198127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571035" cy="4198127"/>
            </a:xfrm>
            <a:custGeom>
              <a:avLst/>
              <a:gdLst/>
              <a:ahLst/>
              <a:cxnLst/>
              <a:rect r="r" b="b" t="t" l="l"/>
              <a:pathLst>
                <a:path h="4198127" w="4571035">
                  <a:moveTo>
                    <a:pt x="0" y="0"/>
                  </a:moveTo>
                  <a:lnTo>
                    <a:pt x="4571035" y="0"/>
                  </a:lnTo>
                  <a:lnTo>
                    <a:pt x="4571035" y="4198127"/>
                  </a:lnTo>
                  <a:lnTo>
                    <a:pt x="0" y="4198127"/>
                  </a:lnTo>
                  <a:close/>
                </a:path>
              </a:pathLst>
            </a:custGeom>
            <a:solidFill>
              <a:srgbClr val="6699FF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4571035" cy="4236227"/>
            </a:xfrm>
            <a:prstGeom prst="rect">
              <a:avLst/>
            </a:prstGeom>
          </p:spPr>
          <p:txBody>
            <a:bodyPr anchor="ctr" rtlCol="false" tIns="46654" lIns="46654" bIns="46654" rIns="46654"/>
            <a:lstStyle/>
            <a:p>
              <a:pPr algn="ctr">
                <a:lnSpc>
                  <a:spcPts val="180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-2699999">
            <a:off x="14177116" y="140276"/>
            <a:ext cx="4091853" cy="3758037"/>
            <a:chOff x="0" y="0"/>
            <a:chExt cx="2833837" cy="260265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833837" cy="2602650"/>
            </a:xfrm>
            <a:custGeom>
              <a:avLst/>
              <a:gdLst/>
              <a:ahLst/>
              <a:cxnLst/>
              <a:rect r="r" b="b" t="t" l="l"/>
              <a:pathLst>
                <a:path h="2602650" w="2833837">
                  <a:moveTo>
                    <a:pt x="0" y="0"/>
                  </a:moveTo>
                  <a:lnTo>
                    <a:pt x="2833837" y="0"/>
                  </a:lnTo>
                  <a:lnTo>
                    <a:pt x="2833837" y="2602650"/>
                  </a:lnTo>
                  <a:lnTo>
                    <a:pt x="0" y="2602650"/>
                  </a:lnTo>
                  <a:close/>
                </a:path>
              </a:pathLst>
            </a:custGeom>
            <a:solidFill>
              <a:srgbClr val="000066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2833837" cy="2640750"/>
            </a:xfrm>
            <a:prstGeom prst="rect">
              <a:avLst/>
            </a:prstGeom>
          </p:spPr>
          <p:txBody>
            <a:bodyPr anchor="ctr" rtlCol="false" tIns="46654" lIns="46654" bIns="46654" rIns="46654"/>
            <a:lstStyle/>
            <a:p>
              <a:pPr algn="ctr">
                <a:lnSpc>
                  <a:spcPts val="180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-2699999">
            <a:off x="11011978" y="7665789"/>
            <a:ext cx="2646375" cy="2430482"/>
            <a:chOff x="0" y="0"/>
            <a:chExt cx="1832762" cy="1683244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832762" cy="1683244"/>
            </a:xfrm>
            <a:custGeom>
              <a:avLst/>
              <a:gdLst/>
              <a:ahLst/>
              <a:cxnLst/>
              <a:rect r="r" b="b" t="t" l="l"/>
              <a:pathLst>
                <a:path h="1683244" w="1832762">
                  <a:moveTo>
                    <a:pt x="0" y="0"/>
                  </a:moveTo>
                  <a:lnTo>
                    <a:pt x="1832762" y="0"/>
                  </a:lnTo>
                  <a:lnTo>
                    <a:pt x="1832762" y="1683244"/>
                  </a:lnTo>
                  <a:lnTo>
                    <a:pt x="0" y="1683244"/>
                  </a:lnTo>
                  <a:close/>
                </a:path>
              </a:pathLst>
            </a:custGeom>
            <a:solidFill>
              <a:srgbClr val="336699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1832762" cy="1721344"/>
            </a:xfrm>
            <a:prstGeom prst="rect">
              <a:avLst/>
            </a:prstGeom>
          </p:spPr>
          <p:txBody>
            <a:bodyPr anchor="ctr" rtlCol="false" tIns="46654" lIns="46654" bIns="46654" rIns="46654"/>
            <a:lstStyle/>
            <a:p>
              <a:pPr algn="ctr">
                <a:lnSpc>
                  <a:spcPts val="180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0617647" y="2298781"/>
            <a:ext cx="5365403" cy="5365403"/>
            <a:chOff x="0" y="0"/>
            <a:chExt cx="812800" cy="8128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50375" b="0"/>
              </a:stretch>
            </a:blipFill>
          </p:spPr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669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88797" y="203992"/>
            <a:ext cx="17910406" cy="9879016"/>
            <a:chOff x="0" y="0"/>
            <a:chExt cx="4717144" cy="260188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717144" cy="2601881"/>
            </a:xfrm>
            <a:custGeom>
              <a:avLst/>
              <a:gdLst/>
              <a:ahLst/>
              <a:cxnLst/>
              <a:rect r="r" b="b" t="t" l="l"/>
              <a:pathLst>
                <a:path h="2601881" w="4717144">
                  <a:moveTo>
                    <a:pt x="0" y="0"/>
                  </a:moveTo>
                  <a:lnTo>
                    <a:pt x="4717144" y="0"/>
                  </a:lnTo>
                  <a:lnTo>
                    <a:pt x="4717144" y="2601881"/>
                  </a:lnTo>
                  <a:lnTo>
                    <a:pt x="0" y="2601881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717144" cy="26399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418583" y="4040105"/>
            <a:ext cx="3565646" cy="4654522"/>
            <a:chOff x="0" y="0"/>
            <a:chExt cx="939100" cy="122588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939100" cy="1225882"/>
            </a:xfrm>
            <a:custGeom>
              <a:avLst/>
              <a:gdLst/>
              <a:ahLst/>
              <a:cxnLst/>
              <a:rect r="r" b="b" t="t" l="l"/>
              <a:pathLst>
                <a:path h="1225882" w="939100">
                  <a:moveTo>
                    <a:pt x="0" y="0"/>
                  </a:moveTo>
                  <a:lnTo>
                    <a:pt x="939100" y="0"/>
                  </a:lnTo>
                  <a:lnTo>
                    <a:pt x="939100" y="1225882"/>
                  </a:lnTo>
                  <a:lnTo>
                    <a:pt x="0" y="1225882"/>
                  </a:lnTo>
                  <a:close/>
                </a:path>
              </a:pathLst>
            </a:custGeom>
            <a:solidFill>
              <a:srgbClr val="000066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939100" cy="12639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-2699999">
            <a:off x="-1745592" y="330581"/>
            <a:ext cx="3868778" cy="3553160"/>
            <a:chOff x="0" y="0"/>
            <a:chExt cx="2679345" cy="246076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679345" cy="2460762"/>
            </a:xfrm>
            <a:custGeom>
              <a:avLst/>
              <a:gdLst/>
              <a:ahLst/>
              <a:cxnLst/>
              <a:rect r="r" b="b" t="t" l="l"/>
              <a:pathLst>
                <a:path h="2460762" w="2679345">
                  <a:moveTo>
                    <a:pt x="0" y="0"/>
                  </a:moveTo>
                  <a:lnTo>
                    <a:pt x="2679345" y="0"/>
                  </a:lnTo>
                  <a:lnTo>
                    <a:pt x="2679345" y="2460762"/>
                  </a:lnTo>
                  <a:lnTo>
                    <a:pt x="0" y="2460762"/>
                  </a:lnTo>
                  <a:close/>
                </a:path>
              </a:pathLst>
            </a:custGeom>
            <a:solidFill>
              <a:srgbClr val="6699F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2679345" cy="2498862"/>
            </a:xfrm>
            <a:prstGeom prst="rect">
              <a:avLst/>
            </a:prstGeom>
          </p:spPr>
          <p:txBody>
            <a:bodyPr anchor="ctr" rtlCol="false" tIns="46654" lIns="46654" bIns="46654" rIns="46654"/>
            <a:lstStyle/>
            <a:p>
              <a:pPr algn="ctr">
                <a:lnSpc>
                  <a:spcPts val="180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-2699999">
            <a:off x="17059040" y="1358558"/>
            <a:ext cx="3868778" cy="3553160"/>
            <a:chOff x="0" y="0"/>
            <a:chExt cx="2679345" cy="246076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679345" cy="2460762"/>
            </a:xfrm>
            <a:custGeom>
              <a:avLst/>
              <a:gdLst/>
              <a:ahLst/>
              <a:cxnLst/>
              <a:rect r="r" b="b" t="t" l="l"/>
              <a:pathLst>
                <a:path h="2460762" w="2679345">
                  <a:moveTo>
                    <a:pt x="0" y="0"/>
                  </a:moveTo>
                  <a:lnTo>
                    <a:pt x="2679345" y="0"/>
                  </a:lnTo>
                  <a:lnTo>
                    <a:pt x="2679345" y="2460762"/>
                  </a:lnTo>
                  <a:lnTo>
                    <a:pt x="0" y="2460762"/>
                  </a:lnTo>
                  <a:close/>
                </a:path>
              </a:pathLst>
            </a:custGeom>
            <a:solidFill>
              <a:srgbClr val="6699FF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2679345" cy="2498862"/>
            </a:xfrm>
            <a:prstGeom prst="rect">
              <a:avLst/>
            </a:prstGeom>
          </p:spPr>
          <p:txBody>
            <a:bodyPr anchor="ctr" rtlCol="false" tIns="46654" lIns="46654" bIns="46654" rIns="46654"/>
            <a:lstStyle/>
            <a:p>
              <a:pPr algn="ctr">
                <a:lnSpc>
                  <a:spcPts val="180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-2699999">
            <a:off x="15419116" y="-2079159"/>
            <a:ext cx="3680368" cy="3380122"/>
            <a:chOff x="0" y="0"/>
            <a:chExt cx="2548861" cy="2340923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548861" cy="2340923"/>
            </a:xfrm>
            <a:custGeom>
              <a:avLst/>
              <a:gdLst/>
              <a:ahLst/>
              <a:cxnLst/>
              <a:rect r="r" b="b" t="t" l="l"/>
              <a:pathLst>
                <a:path h="2340923" w="2548861">
                  <a:moveTo>
                    <a:pt x="0" y="0"/>
                  </a:moveTo>
                  <a:lnTo>
                    <a:pt x="2548861" y="0"/>
                  </a:lnTo>
                  <a:lnTo>
                    <a:pt x="2548861" y="2340923"/>
                  </a:lnTo>
                  <a:lnTo>
                    <a:pt x="0" y="2340923"/>
                  </a:lnTo>
                  <a:close/>
                </a:path>
              </a:pathLst>
            </a:custGeom>
            <a:solidFill>
              <a:srgbClr val="000066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2548861" cy="2379023"/>
            </a:xfrm>
            <a:prstGeom prst="rect">
              <a:avLst/>
            </a:prstGeom>
          </p:spPr>
          <p:txBody>
            <a:bodyPr anchor="ctr" rtlCol="false" tIns="46654" lIns="46654" bIns="46654" rIns="46654"/>
            <a:lstStyle/>
            <a:p>
              <a:pPr algn="ctr">
                <a:lnSpc>
                  <a:spcPts val="180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-2699999">
            <a:off x="2468217" y="-264109"/>
            <a:ext cx="2361227" cy="2168597"/>
            <a:chOff x="0" y="0"/>
            <a:chExt cx="1635282" cy="1501875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635282" cy="1501875"/>
            </a:xfrm>
            <a:custGeom>
              <a:avLst/>
              <a:gdLst/>
              <a:ahLst/>
              <a:cxnLst/>
              <a:rect r="r" b="b" t="t" l="l"/>
              <a:pathLst>
                <a:path h="1501875" w="1635282">
                  <a:moveTo>
                    <a:pt x="0" y="0"/>
                  </a:moveTo>
                  <a:lnTo>
                    <a:pt x="1635282" y="0"/>
                  </a:lnTo>
                  <a:lnTo>
                    <a:pt x="1635282" y="1501875"/>
                  </a:lnTo>
                  <a:lnTo>
                    <a:pt x="0" y="1501875"/>
                  </a:lnTo>
                  <a:close/>
                </a:path>
              </a:pathLst>
            </a:custGeom>
            <a:solidFill>
              <a:srgbClr val="336699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1635282" cy="1539975"/>
            </a:xfrm>
            <a:prstGeom prst="rect">
              <a:avLst/>
            </a:prstGeom>
          </p:spPr>
          <p:txBody>
            <a:bodyPr anchor="ctr" rtlCol="false" tIns="46654" lIns="46654" bIns="46654" rIns="46654"/>
            <a:lstStyle/>
            <a:p>
              <a:pPr algn="ctr">
                <a:lnSpc>
                  <a:spcPts val="1800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2510738" y="4651803"/>
            <a:ext cx="922087" cy="922087"/>
          </a:xfrm>
          <a:custGeom>
            <a:avLst/>
            <a:gdLst/>
            <a:ahLst/>
            <a:cxnLst/>
            <a:rect r="r" b="b" t="t" l="l"/>
            <a:pathLst>
              <a:path h="922087" w="922087">
                <a:moveTo>
                  <a:pt x="0" y="0"/>
                </a:moveTo>
                <a:lnTo>
                  <a:pt x="922087" y="0"/>
                </a:lnTo>
                <a:lnTo>
                  <a:pt x="922087" y="922087"/>
                </a:lnTo>
                <a:lnTo>
                  <a:pt x="0" y="92208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6655786" y="4706395"/>
            <a:ext cx="987831" cy="867495"/>
          </a:xfrm>
          <a:custGeom>
            <a:avLst/>
            <a:gdLst/>
            <a:ahLst/>
            <a:cxnLst/>
            <a:rect r="r" b="b" t="t" l="l"/>
            <a:pathLst>
              <a:path h="867495" w="987831">
                <a:moveTo>
                  <a:pt x="0" y="0"/>
                </a:moveTo>
                <a:lnTo>
                  <a:pt x="987831" y="0"/>
                </a:lnTo>
                <a:lnTo>
                  <a:pt x="987831" y="867495"/>
                </a:lnTo>
                <a:lnTo>
                  <a:pt x="0" y="86749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10722810" y="4706395"/>
            <a:ext cx="915132" cy="867495"/>
          </a:xfrm>
          <a:custGeom>
            <a:avLst/>
            <a:gdLst/>
            <a:ahLst/>
            <a:cxnLst/>
            <a:rect r="r" b="b" t="t" l="l"/>
            <a:pathLst>
              <a:path h="867495" w="915132">
                <a:moveTo>
                  <a:pt x="0" y="0"/>
                </a:moveTo>
                <a:lnTo>
                  <a:pt x="915132" y="0"/>
                </a:lnTo>
                <a:lnTo>
                  <a:pt x="915132" y="867495"/>
                </a:lnTo>
                <a:lnTo>
                  <a:pt x="0" y="86749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14877597" y="4533271"/>
            <a:ext cx="877242" cy="1040619"/>
          </a:xfrm>
          <a:custGeom>
            <a:avLst/>
            <a:gdLst/>
            <a:ahLst/>
            <a:cxnLst/>
            <a:rect r="r" b="b" t="t" l="l"/>
            <a:pathLst>
              <a:path h="1040619" w="877242">
                <a:moveTo>
                  <a:pt x="0" y="0"/>
                </a:moveTo>
                <a:lnTo>
                  <a:pt x="877242" y="0"/>
                </a:lnTo>
                <a:lnTo>
                  <a:pt x="877242" y="1040619"/>
                </a:lnTo>
                <a:lnTo>
                  <a:pt x="0" y="104061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1677536" y="6383770"/>
            <a:ext cx="2588492" cy="1595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345459" indent="-172729" lvl="1">
              <a:lnSpc>
                <a:spcPts val="1808"/>
              </a:lnSpc>
              <a:buFont typeface="Arial"/>
              <a:buChar char="•"/>
            </a:pPr>
            <a:r>
              <a:rPr lang="en-US" sz="1600">
                <a:solidFill>
                  <a:srgbClr val="000066"/>
                </a:solidFill>
                <a:latin typeface="Garet"/>
                <a:ea typeface="Garet"/>
                <a:cs typeface="Garet"/>
                <a:sym typeface="Garet"/>
              </a:rPr>
              <a:t>React</a:t>
            </a:r>
          </a:p>
          <a:p>
            <a:pPr algn="ctr" marL="345459" indent="-172729" lvl="1">
              <a:lnSpc>
                <a:spcPts val="1808"/>
              </a:lnSpc>
              <a:buFont typeface="Arial"/>
              <a:buChar char="•"/>
            </a:pPr>
            <a:r>
              <a:rPr lang="en-US" sz="1600">
                <a:solidFill>
                  <a:srgbClr val="000066"/>
                </a:solidFill>
                <a:latin typeface="Garet"/>
                <a:ea typeface="Garet"/>
                <a:cs typeface="Garet"/>
                <a:sym typeface="Garet"/>
              </a:rPr>
              <a:t>Angular</a:t>
            </a:r>
          </a:p>
          <a:p>
            <a:pPr algn="ctr" marL="345459" indent="-172729" lvl="1">
              <a:lnSpc>
                <a:spcPts val="1808"/>
              </a:lnSpc>
              <a:buFont typeface="Arial"/>
              <a:buChar char="•"/>
            </a:pPr>
            <a:r>
              <a:rPr lang="en-US" sz="1600">
                <a:solidFill>
                  <a:srgbClr val="000066"/>
                </a:solidFill>
                <a:latin typeface="Garet"/>
                <a:ea typeface="Garet"/>
                <a:cs typeface="Garet"/>
                <a:sym typeface="Garet"/>
              </a:rPr>
              <a:t>Material UI (Librerías como PrimeReact, Shadcn UI, etc.)</a:t>
            </a:r>
          </a:p>
          <a:p>
            <a:pPr algn="ctr" marL="345459" indent="-172729" lvl="1">
              <a:lnSpc>
                <a:spcPts val="1808"/>
              </a:lnSpc>
              <a:buFont typeface="Arial"/>
              <a:buChar char="•"/>
            </a:pPr>
            <a:r>
              <a:rPr lang="en-US" sz="1600">
                <a:solidFill>
                  <a:srgbClr val="000066"/>
                </a:solidFill>
                <a:latin typeface="Garet"/>
                <a:ea typeface="Garet"/>
                <a:cs typeface="Garet"/>
                <a:sym typeface="Garet"/>
              </a:rPr>
              <a:t>TailwindCSS</a:t>
            </a:r>
          </a:p>
          <a:p>
            <a:pPr algn="ctr" marL="345459" indent="-172729" lvl="1">
              <a:lnSpc>
                <a:spcPts val="1808"/>
              </a:lnSpc>
              <a:buFont typeface="Arial"/>
              <a:buChar char="•"/>
            </a:pPr>
            <a:r>
              <a:rPr lang="en-US" sz="1600">
                <a:solidFill>
                  <a:srgbClr val="000066"/>
                </a:solidFill>
                <a:latin typeface="Garet"/>
                <a:ea typeface="Garet"/>
                <a:cs typeface="Garet"/>
                <a:sym typeface="Garet"/>
              </a:rPr>
              <a:t>CSS3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5792348" y="6383770"/>
            <a:ext cx="2588492" cy="1823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345459" indent="-172729" lvl="1">
              <a:lnSpc>
                <a:spcPts val="1808"/>
              </a:lnSpc>
              <a:buFont typeface="Arial"/>
              <a:buChar char="•"/>
            </a:pPr>
            <a:r>
              <a:rPr lang="en-US" sz="1600">
                <a:solidFill>
                  <a:srgbClr val="000066"/>
                </a:solidFill>
                <a:latin typeface="Garet"/>
                <a:ea typeface="Garet"/>
                <a:cs typeface="Garet"/>
                <a:sym typeface="Garet"/>
              </a:rPr>
              <a:t>Python</a:t>
            </a:r>
          </a:p>
          <a:p>
            <a:pPr algn="ctr" marL="345459" indent="-172729" lvl="1">
              <a:lnSpc>
                <a:spcPts val="1808"/>
              </a:lnSpc>
              <a:buFont typeface="Arial"/>
              <a:buChar char="•"/>
            </a:pPr>
            <a:r>
              <a:rPr lang="en-US" sz="1600">
                <a:solidFill>
                  <a:srgbClr val="000066"/>
                </a:solidFill>
                <a:latin typeface="Garet"/>
                <a:ea typeface="Garet"/>
                <a:cs typeface="Garet"/>
                <a:sym typeface="Garet"/>
              </a:rPr>
              <a:t>TypeScript</a:t>
            </a:r>
          </a:p>
          <a:p>
            <a:pPr algn="ctr" marL="345459" indent="-172729" lvl="1">
              <a:lnSpc>
                <a:spcPts val="1808"/>
              </a:lnSpc>
              <a:buFont typeface="Arial"/>
              <a:buChar char="•"/>
            </a:pPr>
            <a:r>
              <a:rPr lang="en-US" sz="1600">
                <a:solidFill>
                  <a:srgbClr val="000066"/>
                </a:solidFill>
                <a:latin typeface="Garet"/>
                <a:ea typeface="Garet"/>
                <a:cs typeface="Garet"/>
                <a:sym typeface="Garet"/>
              </a:rPr>
              <a:t>Electron</a:t>
            </a:r>
          </a:p>
          <a:p>
            <a:pPr algn="ctr" marL="345459" indent="-172729" lvl="1">
              <a:lnSpc>
                <a:spcPts val="1808"/>
              </a:lnSpc>
              <a:buFont typeface="Arial"/>
              <a:buChar char="•"/>
            </a:pPr>
            <a:r>
              <a:rPr lang="en-US" sz="1600">
                <a:solidFill>
                  <a:srgbClr val="000066"/>
                </a:solidFill>
                <a:latin typeface="Garet"/>
                <a:ea typeface="Garet"/>
                <a:cs typeface="Garet"/>
                <a:sym typeface="Garet"/>
              </a:rPr>
              <a:t>Docker</a:t>
            </a:r>
          </a:p>
          <a:p>
            <a:pPr algn="ctr" marL="345459" indent="-172729" lvl="1">
              <a:lnSpc>
                <a:spcPts val="1808"/>
              </a:lnSpc>
              <a:buFont typeface="Arial"/>
              <a:buChar char="•"/>
            </a:pPr>
            <a:r>
              <a:rPr lang="en-US" sz="1600">
                <a:solidFill>
                  <a:srgbClr val="000066"/>
                </a:solidFill>
                <a:latin typeface="Garet"/>
                <a:ea typeface="Garet"/>
                <a:cs typeface="Garet"/>
                <a:sym typeface="Garet"/>
              </a:rPr>
              <a:t>Librerías Python (Pandas, FastAPI, etc.)</a:t>
            </a:r>
          </a:p>
          <a:p>
            <a:pPr algn="ctr" marL="345459" indent="-172729" lvl="1">
              <a:lnSpc>
                <a:spcPts val="1808"/>
              </a:lnSpc>
              <a:buFont typeface="Arial"/>
              <a:buChar char="•"/>
            </a:pPr>
            <a:r>
              <a:rPr lang="en-US" sz="1600">
                <a:solidFill>
                  <a:srgbClr val="000066"/>
                </a:solidFill>
                <a:latin typeface="Garet"/>
                <a:ea typeface="Garet"/>
                <a:cs typeface="Garet"/>
                <a:sym typeface="Garet"/>
              </a:rPr>
              <a:t>Ionic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9886130" y="6675013"/>
            <a:ext cx="2588492" cy="680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345459" indent="-172729" lvl="1">
              <a:lnSpc>
                <a:spcPts val="1808"/>
              </a:lnSpc>
              <a:buFont typeface="Arial"/>
              <a:buChar char="•"/>
            </a:pPr>
            <a:r>
              <a:rPr lang="en-US" sz="1600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SupaBase</a:t>
            </a:r>
          </a:p>
          <a:p>
            <a:pPr algn="ctr" marL="345459" indent="-172729" lvl="1">
              <a:lnSpc>
                <a:spcPts val="1808"/>
              </a:lnSpc>
              <a:buFont typeface="Arial"/>
              <a:buChar char="•"/>
            </a:pPr>
            <a:r>
              <a:rPr lang="en-US" sz="1600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Supabase Authentication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4021972" y="6383770"/>
            <a:ext cx="2588492" cy="1366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345459" indent="-172729" lvl="1">
              <a:lnSpc>
                <a:spcPts val="1808"/>
              </a:lnSpc>
              <a:buFont typeface="Arial"/>
              <a:buChar char="•"/>
            </a:pPr>
            <a:r>
              <a:rPr lang="en-US" sz="1600">
                <a:solidFill>
                  <a:srgbClr val="000066"/>
                </a:solidFill>
                <a:latin typeface="Garet"/>
                <a:ea typeface="Garet"/>
                <a:cs typeface="Garet"/>
                <a:sym typeface="Garet"/>
              </a:rPr>
              <a:t>Visual Studio Code</a:t>
            </a:r>
          </a:p>
          <a:p>
            <a:pPr algn="ctr" marL="345459" indent="-172729" lvl="1">
              <a:lnSpc>
                <a:spcPts val="1808"/>
              </a:lnSpc>
              <a:buFont typeface="Arial"/>
              <a:buChar char="•"/>
            </a:pPr>
            <a:r>
              <a:rPr lang="en-US" sz="1600">
                <a:solidFill>
                  <a:srgbClr val="000066"/>
                </a:solidFill>
                <a:latin typeface="Garet"/>
                <a:ea typeface="Garet"/>
                <a:cs typeface="Garet"/>
                <a:sym typeface="Garet"/>
              </a:rPr>
              <a:t>Github</a:t>
            </a:r>
          </a:p>
          <a:p>
            <a:pPr algn="ctr" marL="345459" indent="-172729" lvl="1">
              <a:lnSpc>
                <a:spcPts val="1808"/>
              </a:lnSpc>
              <a:buFont typeface="Arial"/>
              <a:buChar char="•"/>
            </a:pPr>
            <a:r>
              <a:rPr lang="en-US" sz="1600">
                <a:solidFill>
                  <a:srgbClr val="000066"/>
                </a:solidFill>
                <a:latin typeface="Garet"/>
                <a:ea typeface="Garet"/>
                <a:cs typeface="Garet"/>
                <a:sym typeface="Garet"/>
              </a:rPr>
              <a:t>Balsamic (mockups)</a:t>
            </a:r>
          </a:p>
          <a:p>
            <a:pPr algn="ctr" marL="345459" indent="-172729" lvl="1">
              <a:lnSpc>
                <a:spcPts val="1808"/>
              </a:lnSpc>
              <a:buFont typeface="Arial"/>
              <a:buChar char="•"/>
            </a:pPr>
            <a:r>
              <a:rPr lang="en-US" sz="1600">
                <a:solidFill>
                  <a:srgbClr val="000066"/>
                </a:solidFill>
                <a:latin typeface="Garet"/>
                <a:ea typeface="Garet"/>
                <a:cs typeface="Garet"/>
                <a:sym typeface="Garet"/>
              </a:rPr>
              <a:t>Supabase Console</a:t>
            </a:r>
          </a:p>
          <a:p>
            <a:pPr algn="ctr" marL="345459" indent="-172729" lvl="1">
              <a:lnSpc>
                <a:spcPts val="1808"/>
              </a:lnSpc>
              <a:buFont typeface="Arial"/>
              <a:buChar char="•"/>
            </a:pPr>
            <a:r>
              <a:rPr lang="en-US" sz="1600">
                <a:solidFill>
                  <a:srgbClr val="000066"/>
                </a:solidFill>
                <a:latin typeface="Garet"/>
                <a:ea typeface="Garet"/>
                <a:cs typeface="Garet"/>
                <a:sym typeface="Garet"/>
              </a:rPr>
              <a:t>Jira</a:t>
            </a:r>
          </a:p>
          <a:p>
            <a:pPr algn="ctr" marL="345459" indent="-172729" lvl="1">
              <a:lnSpc>
                <a:spcPts val="1808"/>
              </a:lnSpc>
              <a:buFont typeface="Arial"/>
              <a:buChar char="•"/>
            </a:pPr>
            <a:r>
              <a:rPr lang="en-US" sz="1600">
                <a:solidFill>
                  <a:srgbClr val="000066"/>
                </a:solidFill>
                <a:latin typeface="Garet"/>
                <a:ea typeface="Garet"/>
                <a:cs typeface="Garet"/>
                <a:sym typeface="Garet"/>
              </a:rPr>
              <a:t>Teams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028700" y="1849997"/>
            <a:ext cx="16230600" cy="10261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520"/>
              </a:lnSpc>
              <a:spcBef>
                <a:spcPct val="0"/>
              </a:spcBef>
            </a:pPr>
            <a:r>
              <a:rPr lang="en-US" b="true" sz="8000">
                <a:solidFill>
                  <a:srgbClr val="000066"/>
                </a:solidFill>
                <a:latin typeface="Garet Bold"/>
                <a:ea typeface="Garet Bold"/>
                <a:cs typeface="Garet Bold"/>
                <a:sym typeface="Garet Bold"/>
              </a:rPr>
              <a:t>Tecnologías y Herramientas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969764" y="5640565"/>
            <a:ext cx="2004035" cy="5896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08"/>
              </a:lnSpc>
            </a:pPr>
            <a:r>
              <a:rPr lang="en-US" b="true" sz="3434">
                <a:solidFill>
                  <a:srgbClr val="174264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Frontend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6150732" y="5640565"/>
            <a:ext cx="1871724" cy="5896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08"/>
              </a:lnSpc>
            </a:pPr>
            <a:r>
              <a:rPr lang="en-US" sz="3434" b="true">
                <a:solidFill>
                  <a:srgbClr val="174264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Backend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9928190" y="5659615"/>
            <a:ext cx="2546433" cy="8915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84"/>
              </a:lnSpc>
            </a:pPr>
            <a:r>
              <a:rPr lang="en-US" b="true" sz="2560">
                <a:solidFill>
                  <a:srgbClr val="FFFFFF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Base de Datos y</a:t>
            </a:r>
          </a:p>
          <a:p>
            <a:pPr algn="ctr">
              <a:lnSpc>
                <a:spcPts val="3584"/>
              </a:lnSpc>
            </a:pPr>
            <a:r>
              <a:rPr lang="en-US" b="true" sz="2560">
                <a:solidFill>
                  <a:srgbClr val="FFFFFF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Autenticación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3384820" y="5583228"/>
            <a:ext cx="3862796" cy="7841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25"/>
              </a:lnSpc>
            </a:pPr>
            <a:r>
              <a:rPr lang="en-US" sz="2232" b="true">
                <a:solidFill>
                  <a:srgbClr val="174264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Herramientas de desarrollo y gestión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669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88797" y="203992"/>
            <a:ext cx="17910406" cy="9879016"/>
            <a:chOff x="0" y="0"/>
            <a:chExt cx="4717144" cy="260188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717144" cy="2601881"/>
            </a:xfrm>
            <a:custGeom>
              <a:avLst/>
              <a:gdLst/>
              <a:ahLst/>
              <a:cxnLst/>
              <a:rect r="r" b="b" t="t" l="l"/>
              <a:pathLst>
                <a:path h="2601881" w="4717144">
                  <a:moveTo>
                    <a:pt x="0" y="0"/>
                  </a:moveTo>
                  <a:lnTo>
                    <a:pt x="4717144" y="0"/>
                  </a:lnTo>
                  <a:lnTo>
                    <a:pt x="4717144" y="2601881"/>
                  </a:lnTo>
                  <a:lnTo>
                    <a:pt x="0" y="2601881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717144" cy="26399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5367193" y="3656635"/>
            <a:ext cx="858536" cy="858536"/>
          </a:xfrm>
          <a:custGeom>
            <a:avLst/>
            <a:gdLst/>
            <a:ahLst/>
            <a:cxnLst/>
            <a:rect r="r" b="b" t="t" l="l"/>
            <a:pathLst>
              <a:path h="858536" w="858536">
                <a:moveTo>
                  <a:pt x="0" y="0"/>
                </a:moveTo>
                <a:lnTo>
                  <a:pt x="858536" y="0"/>
                </a:lnTo>
                <a:lnTo>
                  <a:pt x="858536" y="858536"/>
                </a:lnTo>
                <a:lnTo>
                  <a:pt x="0" y="8585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1007699" y="3656635"/>
            <a:ext cx="1111046" cy="858536"/>
          </a:xfrm>
          <a:custGeom>
            <a:avLst/>
            <a:gdLst/>
            <a:ahLst/>
            <a:cxnLst/>
            <a:rect r="r" b="b" t="t" l="l"/>
            <a:pathLst>
              <a:path h="858536" w="1111046">
                <a:moveTo>
                  <a:pt x="0" y="0"/>
                </a:moveTo>
                <a:lnTo>
                  <a:pt x="1111046" y="0"/>
                </a:lnTo>
                <a:lnTo>
                  <a:pt x="1111046" y="858536"/>
                </a:lnTo>
                <a:lnTo>
                  <a:pt x="0" y="85853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814170" y="5325050"/>
            <a:ext cx="5964581" cy="25151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74996" indent="-237498" lvl="1">
              <a:lnSpc>
                <a:spcPts val="2486"/>
              </a:lnSpc>
              <a:buFont typeface="Arial"/>
              <a:buChar char="•"/>
            </a:pPr>
            <a:r>
              <a:rPr lang="en-US" sz="2200">
                <a:solidFill>
                  <a:srgbClr val="000066"/>
                </a:solidFill>
                <a:latin typeface="Garet"/>
                <a:ea typeface="Garet"/>
                <a:cs typeface="Garet"/>
                <a:sym typeface="Garet"/>
              </a:rPr>
              <a:t>Documentos y Requerimientos funcionales y no funcionales</a:t>
            </a:r>
          </a:p>
          <a:p>
            <a:pPr algn="just" marL="474996" indent="-237498" lvl="1">
              <a:lnSpc>
                <a:spcPts val="2486"/>
              </a:lnSpc>
              <a:buFont typeface="Arial"/>
              <a:buChar char="•"/>
            </a:pPr>
            <a:r>
              <a:rPr lang="en-US" sz="2200">
                <a:solidFill>
                  <a:srgbClr val="000066"/>
                </a:solidFill>
                <a:latin typeface="Garet"/>
                <a:ea typeface="Garet"/>
                <a:cs typeface="Garet"/>
                <a:sym typeface="Garet"/>
              </a:rPr>
              <a:t>Acta de constitución del proyecto</a:t>
            </a:r>
          </a:p>
          <a:p>
            <a:pPr algn="just" marL="474996" indent="-237498" lvl="1">
              <a:lnSpc>
                <a:spcPts val="2486"/>
              </a:lnSpc>
              <a:buFont typeface="Arial"/>
              <a:buChar char="•"/>
            </a:pPr>
            <a:r>
              <a:rPr lang="en-US" sz="2200">
                <a:solidFill>
                  <a:srgbClr val="000066"/>
                </a:solidFill>
                <a:latin typeface="Garet"/>
                <a:ea typeface="Garet"/>
                <a:cs typeface="Garet"/>
                <a:sym typeface="Garet"/>
              </a:rPr>
              <a:t>Análisis de riesgos y casos de uso</a:t>
            </a:r>
          </a:p>
          <a:p>
            <a:pPr algn="just" marL="474996" indent="-237498" lvl="1">
              <a:lnSpc>
                <a:spcPts val="2486"/>
              </a:lnSpc>
              <a:buFont typeface="Arial"/>
              <a:buChar char="•"/>
            </a:pPr>
            <a:r>
              <a:rPr lang="en-US" sz="2200">
                <a:solidFill>
                  <a:srgbClr val="000066"/>
                </a:solidFill>
                <a:latin typeface="Garet"/>
                <a:ea typeface="Garet"/>
                <a:cs typeface="Garet"/>
                <a:sym typeface="Garet"/>
              </a:rPr>
              <a:t>Prototipos funcionales iniciales (Web y Móvil)</a:t>
            </a:r>
          </a:p>
          <a:p>
            <a:pPr algn="just" marL="474996" indent="-237498" lvl="1">
              <a:lnSpc>
                <a:spcPts val="2486"/>
              </a:lnSpc>
              <a:buFont typeface="Arial"/>
              <a:buChar char="•"/>
            </a:pPr>
            <a:r>
              <a:rPr lang="en-US" sz="2200">
                <a:solidFill>
                  <a:srgbClr val="000066"/>
                </a:solidFill>
                <a:latin typeface="Garet"/>
                <a:ea typeface="Garet"/>
                <a:cs typeface="Garet"/>
                <a:sym typeface="Garet"/>
              </a:rPr>
              <a:t>Documentación de KPI’s y KRI’s</a:t>
            </a:r>
          </a:p>
          <a:p>
            <a:pPr algn="just" marL="474996" indent="-237498" lvl="1">
              <a:lnSpc>
                <a:spcPts val="2486"/>
              </a:lnSpc>
              <a:buFont typeface="Arial"/>
              <a:buChar char="•"/>
            </a:pPr>
            <a:r>
              <a:rPr lang="en-US" sz="2200">
                <a:solidFill>
                  <a:srgbClr val="000066"/>
                </a:solidFill>
                <a:latin typeface="Garet"/>
                <a:ea typeface="Garet"/>
                <a:cs typeface="Garet"/>
                <a:sym typeface="Garet"/>
              </a:rPr>
              <a:t>Cronograma actualizado</a:t>
            </a:r>
          </a:p>
        </p:txBody>
      </p:sp>
      <p:grpSp>
        <p:nvGrpSpPr>
          <p:cNvPr name="Group 8" id="8"/>
          <p:cNvGrpSpPr/>
          <p:nvPr/>
        </p:nvGrpSpPr>
        <p:grpSpPr>
          <a:xfrm rot="-2699999">
            <a:off x="-1745592" y="330581"/>
            <a:ext cx="3868778" cy="3553160"/>
            <a:chOff x="0" y="0"/>
            <a:chExt cx="2679345" cy="246076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679345" cy="2460762"/>
            </a:xfrm>
            <a:custGeom>
              <a:avLst/>
              <a:gdLst/>
              <a:ahLst/>
              <a:cxnLst/>
              <a:rect r="r" b="b" t="t" l="l"/>
              <a:pathLst>
                <a:path h="2460762" w="2679345">
                  <a:moveTo>
                    <a:pt x="0" y="0"/>
                  </a:moveTo>
                  <a:lnTo>
                    <a:pt x="2679345" y="0"/>
                  </a:lnTo>
                  <a:lnTo>
                    <a:pt x="2679345" y="2460762"/>
                  </a:lnTo>
                  <a:lnTo>
                    <a:pt x="0" y="2460762"/>
                  </a:lnTo>
                  <a:close/>
                </a:path>
              </a:pathLst>
            </a:custGeom>
            <a:solidFill>
              <a:srgbClr val="6699F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2679345" cy="2498862"/>
            </a:xfrm>
            <a:prstGeom prst="rect">
              <a:avLst/>
            </a:prstGeom>
          </p:spPr>
          <p:txBody>
            <a:bodyPr anchor="ctr" rtlCol="false" tIns="46654" lIns="46654" bIns="46654" rIns="46654"/>
            <a:lstStyle/>
            <a:p>
              <a:pPr algn="ctr">
                <a:lnSpc>
                  <a:spcPts val="180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-2699999">
            <a:off x="17059040" y="1358558"/>
            <a:ext cx="3868778" cy="3553160"/>
            <a:chOff x="0" y="0"/>
            <a:chExt cx="2679345" cy="246076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679345" cy="2460762"/>
            </a:xfrm>
            <a:custGeom>
              <a:avLst/>
              <a:gdLst/>
              <a:ahLst/>
              <a:cxnLst/>
              <a:rect r="r" b="b" t="t" l="l"/>
              <a:pathLst>
                <a:path h="2460762" w="2679345">
                  <a:moveTo>
                    <a:pt x="0" y="0"/>
                  </a:moveTo>
                  <a:lnTo>
                    <a:pt x="2679345" y="0"/>
                  </a:lnTo>
                  <a:lnTo>
                    <a:pt x="2679345" y="2460762"/>
                  </a:lnTo>
                  <a:lnTo>
                    <a:pt x="0" y="2460762"/>
                  </a:lnTo>
                  <a:close/>
                </a:path>
              </a:pathLst>
            </a:custGeom>
            <a:solidFill>
              <a:srgbClr val="6699FF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2679345" cy="2498862"/>
            </a:xfrm>
            <a:prstGeom prst="rect">
              <a:avLst/>
            </a:prstGeom>
          </p:spPr>
          <p:txBody>
            <a:bodyPr anchor="ctr" rtlCol="false" tIns="46654" lIns="46654" bIns="46654" rIns="46654"/>
            <a:lstStyle/>
            <a:p>
              <a:pPr algn="ctr">
                <a:lnSpc>
                  <a:spcPts val="180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-2699999">
            <a:off x="15419116" y="-2079159"/>
            <a:ext cx="3680368" cy="3380122"/>
            <a:chOff x="0" y="0"/>
            <a:chExt cx="2548861" cy="2340923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548861" cy="2340923"/>
            </a:xfrm>
            <a:custGeom>
              <a:avLst/>
              <a:gdLst/>
              <a:ahLst/>
              <a:cxnLst/>
              <a:rect r="r" b="b" t="t" l="l"/>
              <a:pathLst>
                <a:path h="2340923" w="2548861">
                  <a:moveTo>
                    <a:pt x="0" y="0"/>
                  </a:moveTo>
                  <a:lnTo>
                    <a:pt x="2548861" y="0"/>
                  </a:lnTo>
                  <a:lnTo>
                    <a:pt x="2548861" y="2340923"/>
                  </a:lnTo>
                  <a:lnTo>
                    <a:pt x="0" y="2340923"/>
                  </a:lnTo>
                  <a:close/>
                </a:path>
              </a:pathLst>
            </a:custGeom>
            <a:solidFill>
              <a:srgbClr val="000066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2548861" cy="2379023"/>
            </a:xfrm>
            <a:prstGeom prst="rect">
              <a:avLst/>
            </a:prstGeom>
          </p:spPr>
          <p:txBody>
            <a:bodyPr anchor="ctr" rtlCol="false" tIns="46654" lIns="46654" bIns="46654" rIns="46654"/>
            <a:lstStyle/>
            <a:p>
              <a:pPr algn="ctr">
                <a:lnSpc>
                  <a:spcPts val="180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-2699999">
            <a:off x="2468217" y="-264109"/>
            <a:ext cx="2361227" cy="2168597"/>
            <a:chOff x="0" y="0"/>
            <a:chExt cx="1635282" cy="1501875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635282" cy="1501875"/>
            </a:xfrm>
            <a:custGeom>
              <a:avLst/>
              <a:gdLst/>
              <a:ahLst/>
              <a:cxnLst/>
              <a:rect r="r" b="b" t="t" l="l"/>
              <a:pathLst>
                <a:path h="1501875" w="1635282">
                  <a:moveTo>
                    <a:pt x="0" y="0"/>
                  </a:moveTo>
                  <a:lnTo>
                    <a:pt x="1635282" y="0"/>
                  </a:lnTo>
                  <a:lnTo>
                    <a:pt x="1635282" y="1501875"/>
                  </a:lnTo>
                  <a:lnTo>
                    <a:pt x="0" y="1501875"/>
                  </a:lnTo>
                  <a:close/>
                </a:path>
              </a:pathLst>
            </a:custGeom>
            <a:solidFill>
              <a:srgbClr val="336699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1635282" cy="1539975"/>
            </a:xfrm>
            <a:prstGeom prst="rect">
              <a:avLst/>
            </a:prstGeom>
          </p:spPr>
          <p:txBody>
            <a:bodyPr anchor="ctr" rtlCol="false" tIns="46654" lIns="46654" bIns="46654" rIns="46654"/>
            <a:lstStyle/>
            <a:p>
              <a:pPr algn="ctr">
                <a:lnSpc>
                  <a:spcPts val="1800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1028700" y="1849997"/>
            <a:ext cx="16230600" cy="10261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520"/>
              </a:lnSpc>
              <a:spcBef>
                <a:spcPct val="0"/>
              </a:spcBef>
            </a:pPr>
            <a:r>
              <a:rPr lang="en-US" b="true" sz="8000">
                <a:solidFill>
                  <a:srgbClr val="000066"/>
                </a:solidFill>
                <a:latin typeface="Garet Bold"/>
                <a:ea typeface="Garet Bold"/>
                <a:cs typeface="Garet Bold"/>
                <a:sym typeface="Garet Bold"/>
              </a:rPr>
              <a:t>Entregables y Evidencias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4136966" y="4582968"/>
            <a:ext cx="3318989" cy="5896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08"/>
              </a:lnSpc>
            </a:pPr>
            <a:r>
              <a:rPr lang="en-US" sz="3434" b="true">
                <a:solidFill>
                  <a:srgbClr val="174264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Fase de Avance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0490036" y="4549007"/>
            <a:ext cx="2146373" cy="5896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08"/>
              </a:lnSpc>
            </a:pPr>
            <a:r>
              <a:rPr lang="en-US" sz="3434" b="true">
                <a:solidFill>
                  <a:srgbClr val="174264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Fase Final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9144000" y="5325050"/>
            <a:ext cx="5964581" cy="28294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74996" indent="-237498" lvl="1">
              <a:lnSpc>
                <a:spcPts val="2486"/>
              </a:lnSpc>
              <a:buFont typeface="Arial"/>
              <a:buChar char="•"/>
            </a:pPr>
            <a:r>
              <a:rPr lang="en-US" sz="2200">
                <a:solidFill>
                  <a:srgbClr val="000066"/>
                </a:solidFill>
                <a:latin typeface="Garet"/>
                <a:ea typeface="Garet"/>
                <a:cs typeface="Garet"/>
                <a:sym typeface="Garet"/>
              </a:rPr>
              <a:t>Sitio web administrativo finalizado</a:t>
            </a:r>
          </a:p>
          <a:p>
            <a:pPr algn="just" marL="474996" indent="-237498" lvl="1">
              <a:lnSpc>
                <a:spcPts val="2486"/>
              </a:lnSpc>
              <a:buFont typeface="Arial"/>
              <a:buChar char="•"/>
            </a:pPr>
            <a:r>
              <a:rPr lang="en-US" sz="2200">
                <a:solidFill>
                  <a:srgbClr val="000066"/>
                </a:solidFill>
                <a:latin typeface="Garet"/>
                <a:ea typeface="Garet"/>
                <a:cs typeface="Garet"/>
                <a:sym typeface="Garet"/>
              </a:rPr>
              <a:t>Aplicación móvil completa con todas sus funcionalidades</a:t>
            </a:r>
          </a:p>
          <a:p>
            <a:pPr algn="just" marL="474996" indent="-237498" lvl="1">
              <a:lnSpc>
                <a:spcPts val="2486"/>
              </a:lnSpc>
              <a:buFont typeface="Arial"/>
              <a:buChar char="•"/>
            </a:pPr>
            <a:r>
              <a:rPr lang="en-US" sz="2200">
                <a:solidFill>
                  <a:srgbClr val="000066"/>
                </a:solidFill>
                <a:latin typeface="Garet"/>
                <a:ea typeface="Garet"/>
                <a:cs typeface="Garet"/>
                <a:sym typeface="Garet"/>
              </a:rPr>
              <a:t>Base de datos implementada</a:t>
            </a:r>
          </a:p>
          <a:p>
            <a:pPr algn="just" marL="474996" indent="-237498" lvl="1">
              <a:lnSpc>
                <a:spcPts val="2486"/>
              </a:lnSpc>
              <a:buFont typeface="Arial"/>
              <a:buChar char="•"/>
            </a:pPr>
            <a:r>
              <a:rPr lang="en-US" sz="2200">
                <a:solidFill>
                  <a:srgbClr val="000066"/>
                </a:solidFill>
                <a:latin typeface="Garet"/>
                <a:ea typeface="Garet"/>
                <a:cs typeface="Garet"/>
                <a:sym typeface="Garet"/>
              </a:rPr>
              <a:t>Documentación técnica completa del sistema</a:t>
            </a:r>
          </a:p>
          <a:p>
            <a:pPr algn="just" marL="474996" indent="-237498" lvl="1">
              <a:lnSpc>
                <a:spcPts val="2486"/>
              </a:lnSpc>
              <a:buFont typeface="Arial"/>
              <a:buChar char="•"/>
            </a:pPr>
            <a:r>
              <a:rPr lang="en-US" sz="2200">
                <a:solidFill>
                  <a:srgbClr val="000066"/>
                </a:solidFill>
                <a:latin typeface="Garet"/>
                <a:ea typeface="Garet"/>
                <a:cs typeface="Garet"/>
                <a:sym typeface="Garet"/>
              </a:rPr>
              <a:t>Documentación de usuario completa</a:t>
            </a:r>
          </a:p>
          <a:p>
            <a:pPr algn="just" marL="474996" indent="-237498" lvl="1">
              <a:lnSpc>
                <a:spcPts val="2486"/>
              </a:lnSpc>
              <a:buFont typeface="Arial"/>
              <a:buChar char="•"/>
            </a:pPr>
            <a:r>
              <a:rPr lang="en-US" sz="2200">
                <a:solidFill>
                  <a:srgbClr val="000066"/>
                </a:solidFill>
                <a:latin typeface="Garet"/>
                <a:ea typeface="Garet"/>
                <a:cs typeface="Garet"/>
                <a:sym typeface="Garet"/>
              </a:rPr>
              <a:t>Informe de pruebas finales</a:t>
            </a:r>
          </a:p>
          <a:p>
            <a:pPr algn="just" marL="474996" indent="-237498" lvl="1">
              <a:lnSpc>
                <a:spcPts val="2486"/>
              </a:lnSpc>
              <a:buFont typeface="Arial"/>
              <a:buChar char="•"/>
            </a:pPr>
            <a:r>
              <a:rPr lang="en-US" sz="2200">
                <a:solidFill>
                  <a:srgbClr val="000066"/>
                </a:solidFill>
                <a:latin typeface="Garet"/>
                <a:ea typeface="Garet"/>
                <a:cs typeface="Garet"/>
                <a:sym typeface="Garet"/>
              </a:rPr>
              <a:t>Cronograma final del proyecto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669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88797" y="203992"/>
            <a:ext cx="17910406" cy="9879016"/>
            <a:chOff x="0" y="0"/>
            <a:chExt cx="4717144" cy="260188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717144" cy="2601881"/>
            </a:xfrm>
            <a:custGeom>
              <a:avLst/>
              <a:gdLst/>
              <a:ahLst/>
              <a:cxnLst/>
              <a:rect r="r" b="b" t="t" l="l"/>
              <a:pathLst>
                <a:path h="2601881" w="4717144">
                  <a:moveTo>
                    <a:pt x="0" y="0"/>
                  </a:moveTo>
                  <a:lnTo>
                    <a:pt x="4717144" y="0"/>
                  </a:lnTo>
                  <a:lnTo>
                    <a:pt x="4717144" y="2601881"/>
                  </a:lnTo>
                  <a:lnTo>
                    <a:pt x="0" y="2601881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717144" cy="26399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418583" y="4040105"/>
            <a:ext cx="3565646" cy="4654522"/>
            <a:chOff x="0" y="0"/>
            <a:chExt cx="939100" cy="122588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939100" cy="1225882"/>
            </a:xfrm>
            <a:custGeom>
              <a:avLst/>
              <a:gdLst/>
              <a:ahLst/>
              <a:cxnLst/>
              <a:rect r="r" b="b" t="t" l="l"/>
              <a:pathLst>
                <a:path h="1225882" w="939100">
                  <a:moveTo>
                    <a:pt x="0" y="0"/>
                  </a:moveTo>
                  <a:lnTo>
                    <a:pt x="939100" y="0"/>
                  </a:lnTo>
                  <a:lnTo>
                    <a:pt x="939100" y="1225882"/>
                  </a:lnTo>
                  <a:lnTo>
                    <a:pt x="0" y="1225882"/>
                  </a:lnTo>
                  <a:close/>
                </a:path>
              </a:pathLst>
            </a:custGeom>
            <a:solidFill>
              <a:srgbClr val="000066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939100" cy="12639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677536" y="6383770"/>
            <a:ext cx="2588492" cy="680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345459" indent="-172729" lvl="1">
              <a:lnSpc>
                <a:spcPts val="1808"/>
              </a:lnSpc>
              <a:buFont typeface="Arial"/>
              <a:buChar char="•"/>
            </a:pPr>
            <a:r>
              <a:rPr lang="en-US" sz="1600">
                <a:solidFill>
                  <a:srgbClr val="000066"/>
                </a:solidFill>
                <a:latin typeface="Garet"/>
                <a:ea typeface="Garet"/>
                <a:cs typeface="Garet"/>
                <a:sym typeface="Garet"/>
              </a:rPr>
              <a:t>Critian Fierro (Encargado)</a:t>
            </a:r>
          </a:p>
          <a:p>
            <a:pPr algn="ctr" marL="345459" indent="-172729" lvl="1">
              <a:lnSpc>
                <a:spcPts val="1808"/>
              </a:lnSpc>
              <a:buFont typeface="Arial"/>
              <a:buChar char="•"/>
            </a:pPr>
            <a:r>
              <a:rPr lang="en-US" sz="1600">
                <a:solidFill>
                  <a:srgbClr val="000066"/>
                </a:solidFill>
                <a:latin typeface="Garet"/>
                <a:ea typeface="Garet"/>
                <a:cs typeface="Garet"/>
                <a:sym typeface="Garet"/>
              </a:rPr>
              <a:t>Diego Morales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792348" y="6383770"/>
            <a:ext cx="2588492" cy="9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345459" indent="-172729" lvl="1">
              <a:lnSpc>
                <a:spcPts val="1808"/>
              </a:lnSpc>
              <a:buFont typeface="Arial"/>
              <a:buChar char="•"/>
            </a:pPr>
            <a:r>
              <a:rPr lang="en-US" sz="1600">
                <a:solidFill>
                  <a:srgbClr val="000066"/>
                </a:solidFill>
                <a:latin typeface="Garet"/>
                <a:ea typeface="Garet"/>
                <a:cs typeface="Garet"/>
                <a:sym typeface="Garet"/>
              </a:rPr>
              <a:t>Felipe Zuñiga (Encargado)</a:t>
            </a:r>
          </a:p>
          <a:p>
            <a:pPr algn="ctr" marL="345459" indent="-172729" lvl="1">
              <a:lnSpc>
                <a:spcPts val="1808"/>
              </a:lnSpc>
              <a:buFont typeface="Arial"/>
              <a:buChar char="•"/>
            </a:pPr>
            <a:r>
              <a:rPr lang="en-US" sz="1600">
                <a:solidFill>
                  <a:srgbClr val="000066"/>
                </a:solidFill>
                <a:latin typeface="Garet"/>
                <a:ea typeface="Garet"/>
                <a:cs typeface="Garet"/>
                <a:sym typeface="Garet"/>
              </a:rPr>
              <a:t>Matias Soto</a:t>
            </a:r>
          </a:p>
          <a:p>
            <a:pPr algn="ctr" marL="345459" indent="-172729" lvl="1">
              <a:lnSpc>
                <a:spcPts val="1808"/>
              </a:lnSpc>
              <a:buFont typeface="Arial"/>
              <a:buChar char="•"/>
            </a:pPr>
            <a:r>
              <a:rPr lang="en-US" sz="1600">
                <a:solidFill>
                  <a:srgbClr val="000066"/>
                </a:solidFill>
                <a:latin typeface="Garet"/>
                <a:ea typeface="Garet"/>
                <a:cs typeface="Garet"/>
                <a:sym typeface="Garet"/>
              </a:rPr>
              <a:t>Cristian Fierro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886130" y="6675013"/>
            <a:ext cx="2588492" cy="680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345459" indent="-172729" lvl="1">
              <a:lnSpc>
                <a:spcPts val="1808"/>
              </a:lnSpc>
              <a:buFont typeface="Arial"/>
              <a:buChar char="•"/>
            </a:pPr>
            <a:r>
              <a:rPr lang="en-US" sz="1600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Matias Soto (Encargado)</a:t>
            </a:r>
          </a:p>
          <a:p>
            <a:pPr algn="ctr" marL="345459" indent="-172729" lvl="1">
              <a:lnSpc>
                <a:spcPts val="1808"/>
              </a:lnSpc>
              <a:buFont typeface="Arial"/>
              <a:buChar char="•"/>
            </a:pPr>
            <a:r>
              <a:rPr lang="en-US" sz="1600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Felipe Zuñiga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4021972" y="6148264"/>
            <a:ext cx="2588492" cy="1138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345459" indent="-172729" lvl="1">
              <a:lnSpc>
                <a:spcPts val="1808"/>
              </a:lnSpc>
              <a:buFont typeface="Arial"/>
              <a:buChar char="•"/>
            </a:pPr>
            <a:r>
              <a:rPr lang="en-US" sz="1600">
                <a:solidFill>
                  <a:srgbClr val="000066"/>
                </a:solidFill>
                <a:latin typeface="Garet"/>
                <a:ea typeface="Garet"/>
                <a:cs typeface="Garet"/>
                <a:sym typeface="Garet"/>
              </a:rPr>
              <a:t>Diego Morales (Encargado)</a:t>
            </a:r>
          </a:p>
          <a:p>
            <a:pPr algn="ctr" marL="345459" indent="-172729" lvl="1">
              <a:lnSpc>
                <a:spcPts val="1808"/>
              </a:lnSpc>
              <a:buFont typeface="Arial"/>
              <a:buChar char="•"/>
            </a:pPr>
            <a:r>
              <a:rPr lang="en-US" sz="1600">
                <a:solidFill>
                  <a:srgbClr val="000066"/>
                </a:solidFill>
                <a:latin typeface="Garet"/>
                <a:ea typeface="Garet"/>
                <a:cs typeface="Garet"/>
                <a:sym typeface="Garet"/>
              </a:rPr>
              <a:t>Cristian Fierro</a:t>
            </a:r>
          </a:p>
          <a:p>
            <a:pPr algn="ctr" marL="345459" indent="-172729" lvl="1">
              <a:lnSpc>
                <a:spcPts val="1808"/>
              </a:lnSpc>
              <a:buFont typeface="Arial"/>
              <a:buChar char="•"/>
            </a:pPr>
            <a:r>
              <a:rPr lang="en-US" sz="1600">
                <a:solidFill>
                  <a:srgbClr val="000066"/>
                </a:solidFill>
                <a:latin typeface="Garet"/>
                <a:ea typeface="Garet"/>
                <a:cs typeface="Garet"/>
                <a:sym typeface="Garet"/>
              </a:rPr>
              <a:t>Felipe Zuñiga</a:t>
            </a:r>
          </a:p>
          <a:p>
            <a:pPr algn="ctr" marL="345459" indent="-172729" lvl="1">
              <a:lnSpc>
                <a:spcPts val="1808"/>
              </a:lnSpc>
              <a:buFont typeface="Arial"/>
              <a:buChar char="•"/>
            </a:pPr>
            <a:r>
              <a:rPr lang="en-US" sz="1600">
                <a:solidFill>
                  <a:srgbClr val="000066"/>
                </a:solidFill>
                <a:latin typeface="Garet"/>
                <a:ea typeface="Garet"/>
                <a:cs typeface="Garet"/>
                <a:sym typeface="Garet"/>
              </a:rPr>
              <a:t>Matias Soto </a:t>
            </a:r>
          </a:p>
        </p:txBody>
      </p:sp>
      <p:grpSp>
        <p:nvGrpSpPr>
          <p:cNvPr name="Group 12" id="12"/>
          <p:cNvGrpSpPr/>
          <p:nvPr/>
        </p:nvGrpSpPr>
        <p:grpSpPr>
          <a:xfrm rot="-2699999">
            <a:off x="-1745592" y="330581"/>
            <a:ext cx="3868778" cy="3553160"/>
            <a:chOff x="0" y="0"/>
            <a:chExt cx="2679345" cy="2460762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679345" cy="2460762"/>
            </a:xfrm>
            <a:custGeom>
              <a:avLst/>
              <a:gdLst/>
              <a:ahLst/>
              <a:cxnLst/>
              <a:rect r="r" b="b" t="t" l="l"/>
              <a:pathLst>
                <a:path h="2460762" w="2679345">
                  <a:moveTo>
                    <a:pt x="0" y="0"/>
                  </a:moveTo>
                  <a:lnTo>
                    <a:pt x="2679345" y="0"/>
                  </a:lnTo>
                  <a:lnTo>
                    <a:pt x="2679345" y="2460762"/>
                  </a:lnTo>
                  <a:lnTo>
                    <a:pt x="0" y="2460762"/>
                  </a:lnTo>
                  <a:close/>
                </a:path>
              </a:pathLst>
            </a:custGeom>
            <a:solidFill>
              <a:srgbClr val="6699FF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2679345" cy="2498862"/>
            </a:xfrm>
            <a:prstGeom prst="rect">
              <a:avLst/>
            </a:prstGeom>
          </p:spPr>
          <p:txBody>
            <a:bodyPr anchor="ctr" rtlCol="false" tIns="46654" lIns="46654" bIns="46654" rIns="46654"/>
            <a:lstStyle/>
            <a:p>
              <a:pPr algn="ctr">
                <a:lnSpc>
                  <a:spcPts val="180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-2699999">
            <a:off x="17059040" y="1358558"/>
            <a:ext cx="3868778" cy="3553160"/>
            <a:chOff x="0" y="0"/>
            <a:chExt cx="2679345" cy="2460762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679345" cy="2460762"/>
            </a:xfrm>
            <a:custGeom>
              <a:avLst/>
              <a:gdLst/>
              <a:ahLst/>
              <a:cxnLst/>
              <a:rect r="r" b="b" t="t" l="l"/>
              <a:pathLst>
                <a:path h="2460762" w="2679345">
                  <a:moveTo>
                    <a:pt x="0" y="0"/>
                  </a:moveTo>
                  <a:lnTo>
                    <a:pt x="2679345" y="0"/>
                  </a:lnTo>
                  <a:lnTo>
                    <a:pt x="2679345" y="2460762"/>
                  </a:lnTo>
                  <a:lnTo>
                    <a:pt x="0" y="2460762"/>
                  </a:lnTo>
                  <a:close/>
                </a:path>
              </a:pathLst>
            </a:custGeom>
            <a:solidFill>
              <a:srgbClr val="6699FF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2679345" cy="2498862"/>
            </a:xfrm>
            <a:prstGeom prst="rect">
              <a:avLst/>
            </a:prstGeom>
          </p:spPr>
          <p:txBody>
            <a:bodyPr anchor="ctr" rtlCol="false" tIns="46654" lIns="46654" bIns="46654" rIns="46654"/>
            <a:lstStyle/>
            <a:p>
              <a:pPr algn="ctr">
                <a:lnSpc>
                  <a:spcPts val="180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-2699999">
            <a:off x="15419116" y="-2079159"/>
            <a:ext cx="3680368" cy="3380122"/>
            <a:chOff x="0" y="0"/>
            <a:chExt cx="2548861" cy="2340923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548861" cy="2340923"/>
            </a:xfrm>
            <a:custGeom>
              <a:avLst/>
              <a:gdLst/>
              <a:ahLst/>
              <a:cxnLst/>
              <a:rect r="r" b="b" t="t" l="l"/>
              <a:pathLst>
                <a:path h="2340923" w="2548861">
                  <a:moveTo>
                    <a:pt x="0" y="0"/>
                  </a:moveTo>
                  <a:lnTo>
                    <a:pt x="2548861" y="0"/>
                  </a:lnTo>
                  <a:lnTo>
                    <a:pt x="2548861" y="2340923"/>
                  </a:lnTo>
                  <a:lnTo>
                    <a:pt x="0" y="2340923"/>
                  </a:lnTo>
                  <a:close/>
                </a:path>
              </a:pathLst>
            </a:custGeom>
            <a:solidFill>
              <a:srgbClr val="000066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2548861" cy="2379023"/>
            </a:xfrm>
            <a:prstGeom prst="rect">
              <a:avLst/>
            </a:prstGeom>
          </p:spPr>
          <p:txBody>
            <a:bodyPr anchor="ctr" rtlCol="false" tIns="46654" lIns="46654" bIns="46654" rIns="46654"/>
            <a:lstStyle/>
            <a:p>
              <a:pPr algn="ctr">
                <a:lnSpc>
                  <a:spcPts val="180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-2699999">
            <a:off x="2468217" y="-264109"/>
            <a:ext cx="2361227" cy="2168597"/>
            <a:chOff x="0" y="0"/>
            <a:chExt cx="1635282" cy="1501875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635282" cy="1501875"/>
            </a:xfrm>
            <a:custGeom>
              <a:avLst/>
              <a:gdLst/>
              <a:ahLst/>
              <a:cxnLst/>
              <a:rect r="r" b="b" t="t" l="l"/>
              <a:pathLst>
                <a:path h="1501875" w="1635282">
                  <a:moveTo>
                    <a:pt x="0" y="0"/>
                  </a:moveTo>
                  <a:lnTo>
                    <a:pt x="1635282" y="0"/>
                  </a:lnTo>
                  <a:lnTo>
                    <a:pt x="1635282" y="1501875"/>
                  </a:lnTo>
                  <a:lnTo>
                    <a:pt x="0" y="1501875"/>
                  </a:lnTo>
                  <a:close/>
                </a:path>
              </a:pathLst>
            </a:custGeom>
            <a:solidFill>
              <a:srgbClr val="336699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1635282" cy="1539975"/>
            </a:xfrm>
            <a:prstGeom prst="rect">
              <a:avLst/>
            </a:prstGeom>
          </p:spPr>
          <p:txBody>
            <a:bodyPr anchor="ctr" rtlCol="false" tIns="46654" lIns="46654" bIns="46654" rIns="46654"/>
            <a:lstStyle/>
            <a:p>
              <a:pPr algn="ctr">
                <a:lnSpc>
                  <a:spcPts val="1800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24" id="24"/>
          <p:cNvSpPr txBox="true"/>
          <p:nvPr/>
        </p:nvSpPr>
        <p:spPr>
          <a:xfrm rot="0">
            <a:off x="1028700" y="1849997"/>
            <a:ext cx="16230600" cy="10261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520"/>
              </a:lnSpc>
              <a:spcBef>
                <a:spcPct val="0"/>
              </a:spcBef>
            </a:pPr>
            <a:r>
              <a:rPr lang="en-US" b="true" sz="8000">
                <a:solidFill>
                  <a:srgbClr val="000066"/>
                </a:solidFill>
                <a:latin typeface="Garet Bold"/>
                <a:ea typeface="Garet Bold"/>
                <a:cs typeface="Garet Bold"/>
                <a:sym typeface="Garet Bold"/>
              </a:rPr>
              <a:t>Estructura del Equipo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969764" y="5640565"/>
            <a:ext cx="2004035" cy="5896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08"/>
              </a:lnSpc>
            </a:pPr>
            <a:r>
              <a:rPr lang="en-US" b="true" sz="3434">
                <a:solidFill>
                  <a:srgbClr val="174264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Frontend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6150732" y="5640565"/>
            <a:ext cx="1871724" cy="5896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08"/>
              </a:lnSpc>
            </a:pPr>
            <a:r>
              <a:rPr lang="en-US" sz="3434" b="true">
                <a:solidFill>
                  <a:srgbClr val="174264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Backend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9928190" y="5659615"/>
            <a:ext cx="2546433" cy="8915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84"/>
              </a:lnSpc>
            </a:pPr>
            <a:r>
              <a:rPr lang="en-US" b="true" sz="2560">
                <a:solidFill>
                  <a:srgbClr val="FFFFFF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Base de Datos y</a:t>
            </a:r>
          </a:p>
          <a:p>
            <a:pPr algn="ctr">
              <a:lnSpc>
                <a:spcPts val="3584"/>
              </a:lnSpc>
            </a:pPr>
            <a:r>
              <a:rPr lang="en-US" b="true" sz="2560">
                <a:solidFill>
                  <a:srgbClr val="FFFFFF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Autenticación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4197220" y="5583228"/>
            <a:ext cx="2237996" cy="3875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25"/>
              </a:lnSpc>
            </a:pPr>
            <a:r>
              <a:rPr lang="en-US" sz="2232" b="true">
                <a:solidFill>
                  <a:srgbClr val="174264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Documentación</a:t>
            </a:r>
          </a:p>
        </p:txBody>
      </p:sp>
      <p:sp>
        <p:nvSpPr>
          <p:cNvPr name="Freeform 29" id="29"/>
          <p:cNvSpPr/>
          <p:nvPr/>
        </p:nvSpPr>
        <p:spPr>
          <a:xfrm flipH="false" flipV="false" rot="0">
            <a:off x="2510738" y="4651803"/>
            <a:ext cx="922087" cy="922087"/>
          </a:xfrm>
          <a:custGeom>
            <a:avLst/>
            <a:gdLst/>
            <a:ahLst/>
            <a:cxnLst/>
            <a:rect r="r" b="b" t="t" l="l"/>
            <a:pathLst>
              <a:path h="922087" w="922087">
                <a:moveTo>
                  <a:pt x="0" y="0"/>
                </a:moveTo>
                <a:lnTo>
                  <a:pt x="922087" y="0"/>
                </a:lnTo>
                <a:lnTo>
                  <a:pt x="922087" y="922087"/>
                </a:lnTo>
                <a:lnTo>
                  <a:pt x="0" y="92208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6655786" y="4706395"/>
            <a:ext cx="987831" cy="867495"/>
          </a:xfrm>
          <a:custGeom>
            <a:avLst/>
            <a:gdLst/>
            <a:ahLst/>
            <a:cxnLst/>
            <a:rect r="r" b="b" t="t" l="l"/>
            <a:pathLst>
              <a:path h="867495" w="987831">
                <a:moveTo>
                  <a:pt x="0" y="0"/>
                </a:moveTo>
                <a:lnTo>
                  <a:pt x="987831" y="0"/>
                </a:lnTo>
                <a:lnTo>
                  <a:pt x="987831" y="867495"/>
                </a:lnTo>
                <a:lnTo>
                  <a:pt x="0" y="86749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0">
            <a:off x="10722810" y="4706395"/>
            <a:ext cx="915132" cy="867495"/>
          </a:xfrm>
          <a:custGeom>
            <a:avLst/>
            <a:gdLst/>
            <a:ahLst/>
            <a:cxnLst/>
            <a:rect r="r" b="b" t="t" l="l"/>
            <a:pathLst>
              <a:path h="867495" w="915132">
                <a:moveTo>
                  <a:pt x="0" y="0"/>
                </a:moveTo>
                <a:lnTo>
                  <a:pt x="915132" y="0"/>
                </a:lnTo>
                <a:lnTo>
                  <a:pt x="915132" y="867495"/>
                </a:lnTo>
                <a:lnTo>
                  <a:pt x="0" y="86749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2" id="32"/>
          <p:cNvSpPr/>
          <p:nvPr/>
        </p:nvSpPr>
        <p:spPr>
          <a:xfrm flipH="false" flipV="false" rot="0">
            <a:off x="14877597" y="4533271"/>
            <a:ext cx="877242" cy="1040619"/>
          </a:xfrm>
          <a:custGeom>
            <a:avLst/>
            <a:gdLst/>
            <a:ahLst/>
            <a:cxnLst/>
            <a:rect r="r" b="b" t="t" l="l"/>
            <a:pathLst>
              <a:path h="1040619" w="877242">
                <a:moveTo>
                  <a:pt x="0" y="0"/>
                </a:moveTo>
                <a:lnTo>
                  <a:pt x="877242" y="0"/>
                </a:lnTo>
                <a:lnTo>
                  <a:pt x="877242" y="1040619"/>
                </a:lnTo>
                <a:lnTo>
                  <a:pt x="0" y="104061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669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88797" y="203992"/>
            <a:ext cx="17910406" cy="9879016"/>
            <a:chOff x="0" y="0"/>
            <a:chExt cx="4717144" cy="260188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717144" cy="2601881"/>
            </a:xfrm>
            <a:custGeom>
              <a:avLst/>
              <a:gdLst/>
              <a:ahLst/>
              <a:cxnLst/>
              <a:rect r="r" b="b" t="t" l="l"/>
              <a:pathLst>
                <a:path h="2601881" w="4717144">
                  <a:moveTo>
                    <a:pt x="0" y="0"/>
                  </a:moveTo>
                  <a:lnTo>
                    <a:pt x="4717144" y="0"/>
                  </a:lnTo>
                  <a:lnTo>
                    <a:pt x="4717144" y="2601881"/>
                  </a:lnTo>
                  <a:lnTo>
                    <a:pt x="0" y="2601881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717144" cy="26399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2308323" y="2876158"/>
            <a:ext cx="13671354" cy="6874469"/>
            <a:chOff x="0" y="0"/>
            <a:chExt cx="3600686" cy="181056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600686" cy="1810560"/>
            </a:xfrm>
            <a:custGeom>
              <a:avLst/>
              <a:gdLst/>
              <a:ahLst/>
              <a:cxnLst/>
              <a:rect r="r" b="b" t="t" l="l"/>
              <a:pathLst>
                <a:path h="1810560" w="3600686">
                  <a:moveTo>
                    <a:pt x="0" y="0"/>
                  </a:moveTo>
                  <a:lnTo>
                    <a:pt x="3600686" y="0"/>
                  </a:lnTo>
                  <a:lnTo>
                    <a:pt x="3600686" y="1810560"/>
                  </a:lnTo>
                  <a:lnTo>
                    <a:pt x="0" y="1810560"/>
                  </a:lnTo>
                  <a:close/>
                </a:path>
              </a:pathLst>
            </a:custGeom>
            <a:solidFill>
              <a:srgbClr val="000066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3600686" cy="18486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028700" y="1849997"/>
            <a:ext cx="16230600" cy="10261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520"/>
              </a:lnSpc>
              <a:spcBef>
                <a:spcPct val="0"/>
              </a:spcBef>
            </a:pPr>
            <a:r>
              <a:rPr lang="en-US" b="true" sz="8000">
                <a:solidFill>
                  <a:srgbClr val="000066"/>
                </a:solidFill>
                <a:latin typeface="Garet Bold"/>
                <a:ea typeface="Garet Bold"/>
                <a:cs typeface="Garet Bold"/>
                <a:sym typeface="Garet Bold"/>
              </a:rPr>
              <a:t>Carta Gantt</a:t>
            </a:r>
          </a:p>
        </p:txBody>
      </p:sp>
      <p:grpSp>
        <p:nvGrpSpPr>
          <p:cNvPr name="Group 9" id="9"/>
          <p:cNvGrpSpPr/>
          <p:nvPr/>
        </p:nvGrpSpPr>
        <p:grpSpPr>
          <a:xfrm rot="-2699999">
            <a:off x="-1934389" y="-747880"/>
            <a:ext cx="3868778" cy="3553160"/>
            <a:chOff x="0" y="0"/>
            <a:chExt cx="2679345" cy="246076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679345" cy="2460762"/>
            </a:xfrm>
            <a:custGeom>
              <a:avLst/>
              <a:gdLst/>
              <a:ahLst/>
              <a:cxnLst/>
              <a:rect r="r" b="b" t="t" l="l"/>
              <a:pathLst>
                <a:path h="2460762" w="2679345">
                  <a:moveTo>
                    <a:pt x="0" y="0"/>
                  </a:moveTo>
                  <a:lnTo>
                    <a:pt x="2679345" y="0"/>
                  </a:lnTo>
                  <a:lnTo>
                    <a:pt x="2679345" y="2460762"/>
                  </a:lnTo>
                  <a:lnTo>
                    <a:pt x="0" y="2460762"/>
                  </a:lnTo>
                  <a:close/>
                </a:path>
              </a:pathLst>
            </a:custGeom>
            <a:solidFill>
              <a:srgbClr val="336699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2679345" cy="2498862"/>
            </a:xfrm>
            <a:prstGeom prst="rect">
              <a:avLst/>
            </a:prstGeom>
          </p:spPr>
          <p:txBody>
            <a:bodyPr anchor="ctr" rtlCol="false" tIns="46654" lIns="46654" bIns="46654" rIns="46654"/>
            <a:lstStyle/>
            <a:p>
              <a:pPr algn="ctr">
                <a:lnSpc>
                  <a:spcPts val="180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-2699999">
            <a:off x="16542837" y="1273066"/>
            <a:ext cx="3868778" cy="3553160"/>
            <a:chOff x="0" y="0"/>
            <a:chExt cx="2679345" cy="2460762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679345" cy="2460762"/>
            </a:xfrm>
            <a:custGeom>
              <a:avLst/>
              <a:gdLst/>
              <a:ahLst/>
              <a:cxnLst/>
              <a:rect r="r" b="b" t="t" l="l"/>
              <a:pathLst>
                <a:path h="2460762" w="2679345">
                  <a:moveTo>
                    <a:pt x="0" y="0"/>
                  </a:moveTo>
                  <a:lnTo>
                    <a:pt x="2679345" y="0"/>
                  </a:lnTo>
                  <a:lnTo>
                    <a:pt x="2679345" y="2460762"/>
                  </a:lnTo>
                  <a:lnTo>
                    <a:pt x="0" y="2460762"/>
                  </a:lnTo>
                  <a:close/>
                </a:path>
              </a:pathLst>
            </a:custGeom>
            <a:solidFill>
              <a:srgbClr val="000066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2679345" cy="2498862"/>
            </a:xfrm>
            <a:prstGeom prst="rect">
              <a:avLst/>
            </a:prstGeom>
          </p:spPr>
          <p:txBody>
            <a:bodyPr anchor="ctr" rtlCol="false" tIns="46654" lIns="46654" bIns="46654" rIns="46654"/>
            <a:lstStyle/>
            <a:p>
              <a:pPr algn="ctr">
                <a:lnSpc>
                  <a:spcPts val="180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-2699999">
            <a:off x="15004062" y="1282712"/>
            <a:ext cx="1545012" cy="1418968"/>
            <a:chOff x="0" y="0"/>
            <a:chExt cx="1070007" cy="982715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70007" cy="982715"/>
            </a:xfrm>
            <a:custGeom>
              <a:avLst/>
              <a:gdLst/>
              <a:ahLst/>
              <a:cxnLst/>
              <a:rect r="r" b="b" t="t" l="l"/>
              <a:pathLst>
                <a:path h="982715" w="1070007">
                  <a:moveTo>
                    <a:pt x="0" y="0"/>
                  </a:moveTo>
                  <a:lnTo>
                    <a:pt x="1070007" y="0"/>
                  </a:lnTo>
                  <a:lnTo>
                    <a:pt x="1070007" y="982715"/>
                  </a:lnTo>
                  <a:lnTo>
                    <a:pt x="0" y="982715"/>
                  </a:lnTo>
                  <a:close/>
                </a:path>
              </a:pathLst>
            </a:custGeom>
            <a:solidFill>
              <a:srgbClr val="336699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1070007" cy="1020815"/>
            </a:xfrm>
            <a:prstGeom prst="rect">
              <a:avLst/>
            </a:prstGeom>
          </p:spPr>
          <p:txBody>
            <a:bodyPr anchor="ctr" rtlCol="false" tIns="46654" lIns="46654" bIns="46654" rIns="46654"/>
            <a:lstStyle/>
            <a:p>
              <a:pPr algn="ctr">
                <a:lnSpc>
                  <a:spcPts val="180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-2699999">
            <a:off x="2168435" y="1098230"/>
            <a:ext cx="1967492" cy="1806982"/>
            <a:chOff x="0" y="0"/>
            <a:chExt cx="1362598" cy="1251436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362598" cy="1251436"/>
            </a:xfrm>
            <a:custGeom>
              <a:avLst/>
              <a:gdLst/>
              <a:ahLst/>
              <a:cxnLst/>
              <a:rect r="r" b="b" t="t" l="l"/>
              <a:pathLst>
                <a:path h="1251436" w="1362598">
                  <a:moveTo>
                    <a:pt x="0" y="0"/>
                  </a:moveTo>
                  <a:lnTo>
                    <a:pt x="1362598" y="0"/>
                  </a:lnTo>
                  <a:lnTo>
                    <a:pt x="1362598" y="1251436"/>
                  </a:lnTo>
                  <a:lnTo>
                    <a:pt x="0" y="1251436"/>
                  </a:lnTo>
                  <a:close/>
                </a:path>
              </a:pathLst>
            </a:custGeom>
            <a:solidFill>
              <a:srgbClr val="6699FF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1362598" cy="1289536"/>
            </a:xfrm>
            <a:prstGeom prst="rect">
              <a:avLst/>
            </a:prstGeom>
          </p:spPr>
          <p:txBody>
            <a:bodyPr anchor="ctr" rtlCol="false" tIns="46654" lIns="46654" bIns="46654" rIns="46654"/>
            <a:lstStyle/>
            <a:p>
              <a:pPr algn="ctr">
                <a:lnSpc>
                  <a:spcPts val="1800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1" id="21"/>
          <p:cNvSpPr/>
          <p:nvPr/>
        </p:nvSpPr>
        <p:spPr>
          <a:xfrm flipH="false" flipV="false" rot="0">
            <a:off x="2738794" y="3038731"/>
            <a:ext cx="12810412" cy="6549323"/>
          </a:xfrm>
          <a:custGeom>
            <a:avLst/>
            <a:gdLst/>
            <a:ahLst/>
            <a:cxnLst/>
            <a:rect r="r" b="b" t="t" l="l"/>
            <a:pathLst>
              <a:path h="6549323" w="12810412">
                <a:moveTo>
                  <a:pt x="0" y="0"/>
                </a:moveTo>
                <a:lnTo>
                  <a:pt x="12810412" y="0"/>
                </a:lnTo>
                <a:lnTo>
                  <a:pt x="12810412" y="6549323"/>
                </a:lnTo>
                <a:lnTo>
                  <a:pt x="0" y="654932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669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88797" y="203992"/>
            <a:ext cx="17910406" cy="9879016"/>
            <a:chOff x="0" y="0"/>
            <a:chExt cx="4717144" cy="260188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717144" cy="2601881"/>
            </a:xfrm>
            <a:custGeom>
              <a:avLst/>
              <a:gdLst/>
              <a:ahLst/>
              <a:cxnLst/>
              <a:rect r="r" b="b" t="t" l="l"/>
              <a:pathLst>
                <a:path h="2601881" w="4717144">
                  <a:moveTo>
                    <a:pt x="0" y="0"/>
                  </a:moveTo>
                  <a:lnTo>
                    <a:pt x="4717144" y="0"/>
                  </a:lnTo>
                  <a:lnTo>
                    <a:pt x="4717144" y="2601881"/>
                  </a:lnTo>
                  <a:lnTo>
                    <a:pt x="0" y="2601881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717144" cy="26399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028700" y="4630940"/>
            <a:ext cx="10747629" cy="15246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1881"/>
              </a:lnSpc>
            </a:pPr>
            <a:r>
              <a:rPr lang="en-US" sz="10608">
                <a:solidFill>
                  <a:srgbClr val="000066"/>
                </a:solidFill>
                <a:latin typeface="Garet"/>
                <a:ea typeface="Garet"/>
                <a:cs typeface="Garet"/>
                <a:sym typeface="Garet"/>
              </a:rPr>
              <a:t>Muchas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5852836"/>
            <a:ext cx="10747629" cy="15175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1881"/>
              </a:lnSpc>
            </a:pPr>
            <a:r>
              <a:rPr lang="en-US" b="true" sz="10608">
                <a:solidFill>
                  <a:srgbClr val="000066"/>
                </a:solidFill>
                <a:latin typeface="Garet Bold"/>
                <a:ea typeface="Garet Bold"/>
                <a:cs typeface="Garet Bold"/>
                <a:sym typeface="Garet Bold"/>
              </a:rPr>
              <a:t>gracias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028700" y="1028700"/>
            <a:ext cx="2659265" cy="881440"/>
            <a:chOff x="0" y="0"/>
            <a:chExt cx="812800" cy="26941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269411"/>
            </a:xfrm>
            <a:custGeom>
              <a:avLst/>
              <a:gdLst/>
              <a:ahLst/>
              <a:cxnLst/>
              <a:rect r="r" b="b" t="t" l="l"/>
              <a:pathLst>
                <a:path h="269411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269411"/>
                  </a:lnTo>
                  <a:lnTo>
                    <a:pt x="0" y="269411"/>
                  </a:lnTo>
                  <a:close/>
                </a:path>
              </a:pathLst>
            </a:custGeom>
            <a:solidFill>
              <a:srgbClr val="000066"/>
            </a:solidFill>
            <a:ln cap="sq">
              <a:noFill/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812800" cy="30751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-2699999">
            <a:off x="15264668" y="-2600781"/>
            <a:ext cx="6841814" cy="6283654"/>
            <a:chOff x="0" y="0"/>
            <a:chExt cx="3397795" cy="31206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397795" cy="3120600"/>
            </a:xfrm>
            <a:custGeom>
              <a:avLst/>
              <a:gdLst/>
              <a:ahLst/>
              <a:cxnLst/>
              <a:rect r="r" b="b" t="t" l="l"/>
              <a:pathLst>
                <a:path h="3120600" w="3397795">
                  <a:moveTo>
                    <a:pt x="0" y="0"/>
                  </a:moveTo>
                  <a:lnTo>
                    <a:pt x="3397795" y="0"/>
                  </a:lnTo>
                  <a:lnTo>
                    <a:pt x="3397795" y="3120600"/>
                  </a:lnTo>
                  <a:lnTo>
                    <a:pt x="0" y="3120600"/>
                  </a:lnTo>
                  <a:close/>
                </a:path>
              </a:pathLst>
            </a:custGeom>
            <a:solidFill>
              <a:srgbClr val="6699FF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3397795" cy="3158700"/>
            </a:xfrm>
            <a:prstGeom prst="rect">
              <a:avLst/>
            </a:prstGeom>
          </p:spPr>
          <p:txBody>
            <a:bodyPr anchor="ctr" rtlCol="false" tIns="46654" lIns="46654" bIns="46654" rIns="46654"/>
            <a:lstStyle/>
            <a:p>
              <a:pPr algn="ctr">
                <a:lnSpc>
                  <a:spcPts val="180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-2699999">
            <a:off x="15359344" y="5155826"/>
            <a:ext cx="3801966" cy="3689633"/>
            <a:chOff x="0" y="0"/>
            <a:chExt cx="1888140" cy="183235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888140" cy="1832352"/>
            </a:xfrm>
            <a:custGeom>
              <a:avLst/>
              <a:gdLst/>
              <a:ahLst/>
              <a:cxnLst/>
              <a:rect r="r" b="b" t="t" l="l"/>
              <a:pathLst>
                <a:path h="1832352" w="1888140">
                  <a:moveTo>
                    <a:pt x="0" y="0"/>
                  </a:moveTo>
                  <a:lnTo>
                    <a:pt x="1888140" y="0"/>
                  </a:lnTo>
                  <a:lnTo>
                    <a:pt x="1888140" y="1832352"/>
                  </a:lnTo>
                  <a:lnTo>
                    <a:pt x="0" y="1832352"/>
                  </a:lnTo>
                  <a:close/>
                </a:path>
              </a:pathLst>
            </a:custGeom>
            <a:solidFill>
              <a:srgbClr val="000066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1888140" cy="1870452"/>
            </a:xfrm>
            <a:prstGeom prst="rect">
              <a:avLst/>
            </a:prstGeom>
          </p:spPr>
          <p:txBody>
            <a:bodyPr anchor="ctr" rtlCol="false" tIns="46654" lIns="46654" bIns="46654" rIns="46654"/>
            <a:lstStyle/>
            <a:p>
              <a:pPr algn="ctr">
                <a:lnSpc>
                  <a:spcPts val="180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-2699999">
            <a:off x="11189420" y="88332"/>
            <a:ext cx="2579499" cy="2503285"/>
            <a:chOff x="0" y="0"/>
            <a:chExt cx="1281036" cy="1243186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281036" cy="1243186"/>
            </a:xfrm>
            <a:custGeom>
              <a:avLst/>
              <a:gdLst/>
              <a:ahLst/>
              <a:cxnLst/>
              <a:rect r="r" b="b" t="t" l="l"/>
              <a:pathLst>
                <a:path h="1243186" w="1281036">
                  <a:moveTo>
                    <a:pt x="0" y="0"/>
                  </a:moveTo>
                  <a:lnTo>
                    <a:pt x="1281036" y="0"/>
                  </a:lnTo>
                  <a:lnTo>
                    <a:pt x="1281036" y="1243186"/>
                  </a:lnTo>
                  <a:lnTo>
                    <a:pt x="0" y="1243186"/>
                  </a:lnTo>
                  <a:close/>
                </a:path>
              </a:pathLst>
            </a:custGeom>
            <a:solidFill>
              <a:srgbClr val="000066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1281036" cy="1281286"/>
            </a:xfrm>
            <a:prstGeom prst="rect">
              <a:avLst/>
            </a:prstGeom>
          </p:spPr>
          <p:txBody>
            <a:bodyPr anchor="ctr" rtlCol="false" tIns="46654" lIns="46654" bIns="46654" rIns="46654"/>
            <a:lstStyle/>
            <a:p>
              <a:pPr algn="ctr">
                <a:lnSpc>
                  <a:spcPts val="180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-2699999">
            <a:off x="11321202" y="6614684"/>
            <a:ext cx="3491768" cy="3388599"/>
            <a:chOff x="0" y="0"/>
            <a:chExt cx="1734088" cy="1682853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734088" cy="1682853"/>
            </a:xfrm>
            <a:custGeom>
              <a:avLst/>
              <a:gdLst/>
              <a:ahLst/>
              <a:cxnLst/>
              <a:rect r="r" b="b" t="t" l="l"/>
              <a:pathLst>
                <a:path h="1682853" w="1734088">
                  <a:moveTo>
                    <a:pt x="0" y="0"/>
                  </a:moveTo>
                  <a:lnTo>
                    <a:pt x="1734088" y="0"/>
                  </a:lnTo>
                  <a:lnTo>
                    <a:pt x="1734088" y="1682853"/>
                  </a:lnTo>
                  <a:lnTo>
                    <a:pt x="0" y="1682853"/>
                  </a:lnTo>
                  <a:close/>
                </a:path>
              </a:pathLst>
            </a:custGeom>
            <a:solidFill>
              <a:srgbClr val="336699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1734088" cy="1720953"/>
            </a:xfrm>
            <a:prstGeom prst="rect">
              <a:avLst/>
            </a:prstGeom>
          </p:spPr>
          <p:txBody>
            <a:bodyPr anchor="ctr" rtlCol="false" tIns="46654" lIns="46654" bIns="46654" rIns="46654"/>
            <a:lstStyle/>
            <a:p>
              <a:pPr algn="ctr">
                <a:lnSpc>
                  <a:spcPts val="180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-2699999">
            <a:off x="13901875" y="9220529"/>
            <a:ext cx="3491768" cy="3388599"/>
            <a:chOff x="0" y="0"/>
            <a:chExt cx="1734088" cy="1682853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734088" cy="1682853"/>
            </a:xfrm>
            <a:custGeom>
              <a:avLst/>
              <a:gdLst/>
              <a:ahLst/>
              <a:cxnLst/>
              <a:rect r="r" b="b" t="t" l="l"/>
              <a:pathLst>
                <a:path h="1682853" w="1734088">
                  <a:moveTo>
                    <a:pt x="0" y="0"/>
                  </a:moveTo>
                  <a:lnTo>
                    <a:pt x="1734088" y="0"/>
                  </a:lnTo>
                  <a:lnTo>
                    <a:pt x="1734088" y="1682853"/>
                  </a:lnTo>
                  <a:lnTo>
                    <a:pt x="0" y="1682853"/>
                  </a:lnTo>
                  <a:close/>
                </a:path>
              </a:pathLst>
            </a:custGeom>
            <a:solidFill>
              <a:srgbClr val="6699FF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1734088" cy="1720953"/>
            </a:xfrm>
            <a:prstGeom prst="rect">
              <a:avLst/>
            </a:prstGeom>
          </p:spPr>
          <p:txBody>
            <a:bodyPr anchor="ctr" rtlCol="false" tIns="46654" lIns="46654" bIns="46654" rIns="46654"/>
            <a:lstStyle/>
            <a:p>
              <a:pPr algn="ctr">
                <a:lnSpc>
                  <a:spcPts val="180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1757279" y="1505970"/>
            <a:ext cx="5365403" cy="5365403"/>
            <a:chOff x="0" y="0"/>
            <a:chExt cx="812800" cy="8128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blipFill>
              <a:blip r:embed="rId2"/>
              <a:stretch>
                <a:fillRect l="-25046" t="0" r="-25046" b="0"/>
              </a:stretch>
            </a:blipFill>
          </p:spPr>
        </p:sp>
      </p:grpSp>
      <p:sp>
        <p:nvSpPr>
          <p:cNvPr name="TextBox 27" id="27"/>
          <p:cNvSpPr txBox="true"/>
          <p:nvPr/>
        </p:nvSpPr>
        <p:spPr>
          <a:xfrm rot="0">
            <a:off x="1028700" y="1182120"/>
            <a:ext cx="2659265" cy="5607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585"/>
              </a:lnSpc>
              <a:spcBef>
                <a:spcPct val="0"/>
              </a:spcBef>
            </a:pPr>
            <a:r>
              <a:rPr lang="en-US" b="true" sz="3500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CAPSTONE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DAG0GeNbLg8</dc:identifier>
  <dcterms:modified xsi:type="dcterms:W3CDTF">2011-08-01T06:04:30Z</dcterms:modified>
  <cp:revision>1</cp:revision>
  <dc:title>Sistema de Registro</dc:title>
</cp:coreProperties>
</file>